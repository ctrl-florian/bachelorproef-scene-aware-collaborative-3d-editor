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1" r:id="rId2"/>
  </p:sldIdLst>
  <p:sldSz cx="21388388" cy="30275213"/>
  <p:notesSz cx="6858000" cy="9144000"/>
  <p:defaultTextStyle>
    <a:defPPr>
      <a:defRPr lang="nl-NL"/>
    </a:defPPr>
    <a:lvl1pPr marL="0" algn="l" defTabSz="1476027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1pPr>
    <a:lvl2pPr marL="1476027" algn="l" defTabSz="1476027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2pPr>
    <a:lvl3pPr marL="2952054" algn="l" defTabSz="1476027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3pPr>
    <a:lvl4pPr marL="4428081" algn="l" defTabSz="1476027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4pPr>
    <a:lvl5pPr marL="5904109" algn="l" defTabSz="1476027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5pPr>
    <a:lvl6pPr marL="7380135" algn="l" defTabSz="1476027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6pPr>
    <a:lvl7pPr marL="8856162" algn="l" defTabSz="1476027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7pPr>
    <a:lvl8pPr marL="10332190" algn="l" defTabSz="1476027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8pPr>
    <a:lvl9pPr marL="11808216" algn="l" defTabSz="1476027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7">
          <p15:clr>
            <a:srgbClr val="A4A3A4"/>
          </p15:clr>
        </p15:guide>
        <p15:guide id="2" pos="4786" userDrawn="1">
          <p15:clr>
            <a:srgbClr val="A4A3A4"/>
          </p15:clr>
        </p15:guide>
        <p15:guide id="3" orient="horz" pos="9536">
          <p15:clr>
            <a:srgbClr val="A4A3A4"/>
          </p15:clr>
        </p15:guide>
        <p15:guide id="4" pos="14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1EA"/>
    <a:srgbClr val="073C6C"/>
    <a:srgbClr val="003E77"/>
    <a:srgbClr val="F2F2F2"/>
    <a:srgbClr val="E73B2A"/>
    <a:srgbClr val="E73C2B"/>
    <a:srgbClr val="003D77"/>
    <a:srgbClr val="65B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26"/>
    <p:restoredTop sz="94818"/>
  </p:normalViewPr>
  <p:slideViewPr>
    <p:cSldViewPr snapToGrid="0" snapToObjects="1">
      <p:cViewPr>
        <p:scale>
          <a:sx n="66" d="100"/>
          <a:sy n="66" d="100"/>
        </p:scale>
        <p:origin x="852" y="-8028"/>
      </p:cViewPr>
      <p:guideLst>
        <p:guide orient="horz" pos="6737"/>
        <p:guide pos="4786"/>
        <p:guide orient="horz" pos="9536"/>
        <p:guide pos="145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46936-730D-204E-AB52-3BEB64B90A85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19F560-3724-3947-9597-7DBD1F508BE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01481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349249-6D1C-0748-B1D9-2AF3A057365D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BE"/>
              <a:t>Klik om de tekststijl van het model te bewerken</a:t>
            </a:r>
          </a:p>
          <a:p>
            <a:pPr lvl="1"/>
            <a:r>
              <a:rPr lang="nl-BE"/>
              <a:t>Tweede niveau</a:t>
            </a:r>
          </a:p>
          <a:p>
            <a:pPr lvl="2"/>
            <a:r>
              <a:rPr lang="nl-BE"/>
              <a:t>Derde niveau</a:t>
            </a:r>
          </a:p>
          <a:p>
            <a:pPr lvl="3"/>
            <a:r>
              <a:rPr lang="nl-BE"/>
              <a:t>Vierde niveau</a:t>
            </a:r>
          </a:p>
          <a:p>
            <a:pPr lvl="4"/>
            <a:r>
              <a:rPr lang="nl-BE"/>
              <a:t>Vijfde niveau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8EC66C-3FF7-3E4C-B828-5573FE692FA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9875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5430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1054306" algn="l" defTabSz="105430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2108610" algn="l" defTabSz="105430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3162916" algn="l" defTabSz="105430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4217220" algn="l" defTabSz="105430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5271525" algn="l" defTabSz="105430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6325830" algn="l" defTabSz="105430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7380135" algn="l" defTabSz="105430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8434440" algn="l" defTabSz="105430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EC66C-3FF7-3E4C-B828-5573FE692FA9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4969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>
            <a:extLst>
              <a:ext uri="{FF2B5EF4-FFF2-40B4-BE49-F238E27FC236}">
                <a16:creationId xmlns:a16="http://schemas.microsoft.com/office/drawing/2014/main" id="{A61812D2-326A-8BA0-9B4B-E58E1C5AA132}"/>
              </a:ext>
            </a:extLst>
          </p:cNvPr>
          <p:cNvSpPr/>
          <p:nvPr userDrawn="1"/>
        </p:nvSpPr>
        <p:spPr>
          <a:xfrm>
            <a:off x="0" y="27224359"/>
            <a:ext cx="21388387" cy="30494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E738BDE7-F122-1FF4-9B36-CC7C0C8D8D57}"/>
              </a:ext>
            </a:extLst>
          </p:cNvPr>
          <p:cNvSpPr/>
          <p:nvPr userDrawn="1"/>
        </p:nvSpPr>
        <p:spPr>
          <a:xfrm>
            <a:off x="266781" y="5738927"/>
            <a:ext cx="20870602" cy="10812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Tekstvak 8"/>
          <p:cNvSpPr txBox="1"/>
          <p:nvPr userDrawn="1"/>
        </p:nvSpPr>
        <p:spPr>
          <a:xfrm>
            <a:off x="471533" y="387491"/>
            <a:ext cx="20576031" cy="931843"/>
          </a:xfrm>
          <a:prstGeom prst="rect">
            <a:avLst/>
          </a:prstGeom>
          <a:noFill/>
        </p:spPr>
        <p:txBody>
          <a:bodyPr wrap="square" lIns="210861" tIns="105430" rIns="210861" bIns="105430" rtlCol="0">
            <a:spAutoFit/>
          </a:bodyPr>
          <a:lstStyle/>
          <a:p>
            <a:pPr algn="just"/>
            <a:r>
              <a:rPr lang="nl-NL" sz="4700" b="1" i="0" dirty="0" err="1">
                <a:latin typeface="Verdana"/>
                <a:cs typeface="Verdana"/>
              </a:rPr>
              <a:t>Bachelor's</a:t>
            </a:r>
            <a:r>
              <a:rPr lang="nl-NL" sz="4700" b="1" i="0" dirty="0">
                <a:latin typeface="Verdana"/>
                <a:cs typeface="Verdana"/>
              </a:rPr>
              <a:t> Thesis Engineering Technology</a:t>
            </a:r>
            <a:endParaRPr lang="nl-NL" sz="3700" b="0" i="0" dirty="0">
              <a:latin typeface="Verdana"/>
              <a:cs typeface="Verdana"/>
            </a:endParaRPr>
          </a:p>
        </p:txBody>
      </p:sp>
      <p:pic>
        <p:nvPicPr>
          <p:cNvPr id="16" name="Afbeelding 15" descr="lijn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82" y="1410731"/>
            <a:ext cx="20870602" cy="108123"/>
          </a:xfrm>
          <a:prstGeom prst="rect">
            <a:avLst/>
          </a:prstGeom>
        </p:spPr>
      </p:pic>
      <p:sp>
        <p:nvSpPr>
          <p:cNvPr id="19" name="Titel 1"/>
          <p:cNvSpPr>
            <a:spLocks noGrp="1"/>
          </p:cNvSpPr>
          <p:nvPr>
            <p:ph type="title" hasCustomPrompt="1"/>
          </p:nvPr>
        </p:nvSpPr>
        <p:spPr>
          <a:xfrm>
            <a:off x="266781" y="4237717"/>
            <a:ext cx="21121606" cy="684506"/>
          </a:xfrm>
          <a:prstGeom prst="rect">
            <a:avLst/>
          </a:prstGeom>
        </p:spPr>
        <p:txBody>
          <a:bodyPr vert="horz"/>
          <a:lstStyle>
            <a:lvl1pPr algn="l">
              <a:defRPr sz="3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sz="3400" b="0" i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Name Student</a:t>
            </a:r>
            <a:endParaRPr lang="nl-BE" sz="3400" b="0" i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3" name="Tekstvak 22"/>
          <p:cNvSpPr txBox="1"/>
          <p:nvPr userDrawn="1"/>
        </p:nvSpPr>
        <p:spPr>
          <a:xfrm>
            <a:off x="266781" y="27372240"/>
            <a:ext cx="6993001" cy="597640"/>
          </a:xfrm>
          <a:prstGeom prst="rect">
            <a:avLst/>
          </a:prstGeom>
        </p:spPr>
        <p:txBody>
          <a:bodyPr vert="horz" wrap="square" lIns="210861" tIns="105430" rIns="210861" bIns="105430" rtlCol="0">
            <a:spAutoFit/>
          </a:bodyPr>
          <a:lstStyle/>
          <a:p>
            <a:r>
              <a:rPr lang="nl-NL" sz="2500" b="0" dirty="0">
                <a:solidFill>
                  <a:schemeClr val="tx1"/>
                </a:solidFill>
                <a:latin typeface="Verdana"/>
                <a:cs typeface="Verdana"/>
              </a:rPr>
              <a:t>Supervisors / Co-supervisors / </a:t>
            </a:r>
            <a:r>
              <a:rPr lang="nl-NL" sz="2500" b="0" dirty="0" err="1">
                <a:solidFill>
                  <a:schemeClr val="tx1"/>
                </a:solidFill>
                <a:latin typeface="Verdana"/>
                <a:cs typeface="Verdana"/>
              </a:rPr>
              <a:t>Advisors</a:t>
            </a:r>
            <a:r>
              <a:rPr lang="nl-NL" sz="2500" b="0" dirty="0">
                <a:solidFill>
                  <a:schemeClr val="tx1"/>
                </a:solidFill>
                <a:latin typeface="Verdana"/>
                <a:cs typeface="Verdana"/>
              </a:rPr>
              <a:t>: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A334DB0-1D3F-503A-4913-32285420C79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2" r="2658"/>
          <a:stretch/>
        </p:blipFill>
        <p:spPr>
          <a:xfrm>
            <a:off x="1" y="1450"/>
            <a:ext cx="21388387" cy="20363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74DEABB-C1E9-AEF0-93D6-CC23901548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8849034"/>
            <a:ext cx="21388387" cy="243966"/>
          </a:xfrm>
          <a:prstGeom prst="rect">
            <a:avLst/>
          </a:prstGeom>
        </p:spPr>
      </p:pic>
      <p:pic>
        <p:nvPicPr>
          <p:cNvPr id="13" name="Graphic 2">
            <a:extLst>
              <a:ext uri="{FF2B5EF4-FFF2-40B4-BE49-F238E27FC236}">
                <a16:creationId xmlns:a16="http://schemas.microsoft.com/office/drawing/2014/main" id="{63AF0A51-D806-08FB-E322-300DAB08FD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59547" y="29155449"/>
            <a:ext cx="10288015" cy="836549"/>
          </a:xfrm>
          <a:prstGeom prst="rect">
            <a:avLst/>
          </a:prstGeom>
        </p:spPr>
      </p:pic>
      <p:sp>
        <p:nvSpPr>
          <p:cNvPr id="35" name="Tijdelijke aanduiding voor tekst 34">
            <a:extLst>
              <a:ext uri="{FF2B5EF4-FFF2-40B4-BE49-F238E27FC236}">
                <a16:creationId xmlns:a16="http://schemas.microsoft.com/office/drawing/2014/main" id="{28F3551C-1F80-BD87-6F3C-F4B1287BE4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6473" y="1785956"/>
            <a:ext cx="20870601" cy="2169995"/>
          </a:xfrm>
        </p:spPr>
        <p:txBody>
          <a:bodyPr>
            <a:normAutofit/>
          </a:bodyPr>
          <a:lstStyle>
            <a:lvl1pPr marL="0" indent="0" algn="ctr">
              <a:buNone/>
              <a:defRPr sz="6000">
                <a:solidFill>
                  <a:srgbClr val="003D7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nl-NL" dirty="0" err="1"/>
              <a:t>Title</a:t>
            </a:r>
            <a:endParaRPr lang="nl-BE" dirty="0"/>
          </a:p>
        </p:txBody>
      </p:sp>
      <p:sp>
        <p:nvSpPr>
          <p:cNvPr id="41" name="Tijdelijke aanduiding voor tekst 40">
            <a:extLst>
              <a:ext uri="{FF2B5EF4-FFF2-40B4-BE49-F238E27FC236}">
                <a16:creationId xmlns:a16="http://schemas.microsoft.com/office/drawing/2014/main" id="{BD40BB47-E94A-3C21-B6D0-6A7FF34E53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49621" y="27334506"/>
            <a:ext cx="14097453" cy="1452079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nl-NL" dirty="0" err="1"/>
              <a:t>Names</a:t>
            </a:r>
            <a:endParaRPr lang="nl-BE" dirty="0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3FCB674F-9788-04CE-C9C3-32C4BB46337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76213" y="29156025"/>
            <a:ext cx="10239375" cy="836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nl-BE" dirty="0"/>
              <a:t>Here logo company or guest institution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AFA3335-7A1D-6DA2-1C54-5A3F84D6450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6145691" y="234273"/>
            <a:ext cx="4991692" cy="568205"/>
          </a:xfrm>
        </p:spPr>
        <p:txBody>
          <a:bodyPr>
            <a:normAutofit/>
          </a:bodyPr>
          <a:lstStyle>
            <a:lvl1pPr marL="0" indent="0" algn="r">
              <a:buNone/>
              <a:defRPr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here</a:t>
            </a:r>
            <a:r>
              <a:rPr lang="nl-NL" dirty="0"/>
              <a:t> </a:t>
            </a:r>
            <a:r>
              <a:rPr lang="nl-NL" dirty="0" err="1"/>
              <a:t>under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current</a:t>
            </a:r>
            <a:r>
              <a:rPr lang="nl-NL" dirty="0"/>
              <a:t> </a:t>
            </a:r>
            <a:r>
              <a:rPr lang="nl-NL" dirty="0" err="1"/>
              <a:t>academic</a:t>
            </a:r>
            <a:r>
              <a:rPr lang="nl-NL" dirty="0"/>
              <a:t> </a:t>
            </a:r>
            <a:r>
              <a:rPr lang="nl-NL" dirty="0" err="1"/>
              <a:t>year</a:t>
            </a:r>
            <a:r>
              <a:rPr lang="nl-NL" dirty="0"/>
              <a:t>: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63343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5" userDrawn="1">
          <p15:clr>
            <a:srgbClr val="FBAE40"/>
          </p15:clr>
        </p15:guide>
        <p15:guide id="2" pos="673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1069420" y="1212414"/>
            <a:ext cx="19249550" cy="5045868"/>
          </a:xfrm>
          <a:prstGeom prst="rect">
            <a:avLst/>
          </a:prstGeom>
        </p:spPr>
        <p:txBody>
          <a:bodyPr vert="horz" lIns="295205" tIns="147602" rIns="295205" bIns="147602" rtlCol="0" anchor="ctr">
            <a:normAutofit/>
          </a:bodyPr>
          <a:lstStyle/>
          <a:p>
            <a:r>
              <a:rPr lang="nl-BE"/>
              <a:t>Titelstijl van model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1069420" y="7064220"/>
            <a:ext cx="19249550" cy="19980241"/>
          </a:xfrm>
          <a:prstGeom prst="rect">
            <a:avLst/>
          </a:prstGeom>
        </p:spPr>
        <p:txBody>
          <a:bodyPr vert="horz" lIns="295205" tIns="147602" rIns="295205" bIns="147602" rtlCol="0">
            <a:normAutofit/>
          </a:bodyPr>
          <a:lstStyle/>
          <a:p>
            <a:pPr lvl="0"/>
            <a:r>
              <a:rPr lang="nl-BE"/>
              <a:t>Klik om de tekststijl van het model te bewerken</a:t>
            </a:r>
          </a:p>
          <a:p>
            <a:pPr lvl="1"/>
            <a:r>
              <a:rPr lang="nl-BE"/>
              <a:t>Tweede niveau</a:t>
            </a:r>
          </a:p>
          <a:p>
            <a:pPr lvl="2"/>
            <a:r>
              <a:rPr lang="nl-BE"/>
              <a:t>Derde niveau</a:t>
            </a:r>
          </a:p>
          <a:p>
            <a:pPr lvl="3"/>
            <a:r>
              <a:rPr lang="nl-BE"/>
              <a:t>Vierde niveau</a:t>
            </a:r>
          </a:p>
          <a:p>
            <a:pPr lvl="4"/>
            <a:r>
              <a:rPr lang="nl-BE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069420" y="28060640"/>
            <a:ext cx="4990624" cy="1611875"/>
          </a:xfrm>
          <a:prstGeom prst="rect">
            <a:avLst/>
          </a:prstGeom>
        </p:spPr>
        <p:txBody>
          <a:bodyPr vert="horz" lIns="295205" tIns="147602" rIns="295205" bIns="147602" rtlCol="0" anchor="ctr"/>
          <a:lstStyle>
            <a:lvl1pPr algn="l">
              <a:defRPr sz="4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B7129-FE34-674B-A2EC-97FC337DE4A7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7307700" y="28060640"/>
            <a:ext cx="6772989" cy="1611875"/>
          </a:xfrm>
          <a:prstGeom prst="rect">
            <a:avLst/>
          </a:prstGeom>
        </p:spPr>
        <p:txBody>
          <a:bodyPr vert="horz" lIns="295205" tIns="147602" rIns="295205" bIns="147602" rtlCol="0" anchor="ctr"/>
          <a:lstStyle>
            <a:lvl1pPr algn="ctr">
              <a:defRPr sz="4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15328345" y="28060640"/>
            <a:ext cx="4990624" cy="1611875"/>
          </a:xfrm>
          <a:prstGeom prst="rect">
            <a:avLst/>
          </a:prstGeom>
        </p:spPr>
        <p:txBody>
          <a:bodyPr vert="horz" lIns="295205" tIns="147602" rIns="295205" bIns="147602" rtlCol="0" anchor="ctr"/>
          <a:lstStyle>
            <a:lvl1pPr algn="r">
              <a:defRPr sz="4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0CD98-A182-7042-93A0-69F99EFFE13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174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1476027" rtl="0" eaLnBrk="1" latinLnBrk="0" hangingPunct="1">
        <a:spcBef>
          <a:spcPct val="0"/>
        </a:spcBef>
        <a:buNone/>
        <a:defRPr sz="1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07021" indent="-1107021" algn="l" defTabSz="1476027" rtl="0" eaLnBrk="1" latinLnBrk="0" hangingPunct="1">
        <a:spcBef>
          <a:spcPct val="20000"/>
        </a:spcBef>
        <a:buFont typeface="Arial"/>
        <a:buChar char="•"/>
        <a:defRPr sz="10300" kern="1200">
          <a:solidFill>
            <a:schemeClr val="tx1"/>
          </a:solidFill>
          <a:latin typeface="+mn-lt"/>
          <a:ea typeface="+mn-ea"/>
          <a:cs typeface="+mn-cs"/>
        </a:defRPr>
      </a:lvl1pPr>
      <a:lvl2pPr marL="2398544" indent="-922516" algn="l" defTabSz="1476027" rtl="0" eaLnBrk="1" latinLnBrk="0" hangingPunct="1">
        <a:spcBef>
          <a:spcPct val="20000"/>
        </a:spcBef>
        <a:buFont typeface="Arial"/>
        <a:buChar char="–"/>
        <a:defRPr sz="9100" kern="1200">
          <a:solidFill>
            <a:schemeClr val="tx1"/>
          </a:solidFill>
          <a:latin typeface="+mn-lt"/>
          <a:ea typeface="+mn-ea"/>
          <a:cs typeface="+mn-cs"/>
        </a:defRPr>
      </a:lvl2pPr>
      <a:lvl3pPr marL="3690068" indent="-738013" algn="l" defTabSz="1476027" rtl="0" eaLnBrk="1" latinLnBrk="0" hangingPunct="1">
        <a:spcBef>
          <a:spcPct val="20000"/>
        </a:spcBef>
        <a:buFont typeface="Arial"/>
        <a:buChar char="•"/>
        <a:defRPr sz="7800" kern="1200">
          <a:solidFill>
            <a:schemeClr val="tx1"/>
          </a:solidFill>
          <a:latin typeface="+mn-lt"/>
          <a:ea typeface="+mn-ea"/>
          <a:cs typeface="+mn-cs"/>
        </a:defRPr>
      </a:lvl3pPr>
      <a:lvl4pPr marL="5166094" indent="-738013" algn="l" defTabSz="1476027" rtl="0" eaLnBrk="1" latinLnBrk="0" hangingPunct="1">
        <a:spcBef>
          <a:spcPct val="20000"/>
        </a:spcBef>
        <a:buFont typeface="Arial"/>
        <a:buChar char="–"/>
        <a:defRPr sz="6500" kern="1200">
          <a:solidFill>
            <a:schemeClr val="tx1"/>
          </a:solidFill>
          <a:latin typeface="+mn-lt"/>
          <a:ea typeface="+mn-ea"/>
          <a:cs typeface="+mn-cs"/>
        </a:defRPr>
      </a:lvl4pPr>
      <a:lvl5pPr marL="6642122" indent="-738013" algn="l" defTabSz="1476027" rtl="0" eaLnBrk="1" latinLnBrk="0" hangingPunct="1">
        <a:spcBef>
          <a:spcPct val="20000"/>
        </a:spcBef>
        <a:buFont typeface="Arial"/>
        <a:buChar char="»"/>
        <a:defRPr sz="6500" kern="1200">
          <a:solidFill>
            <a:schemeClr val="tx1"/>
          </a:solidFill>
          <a:latin typeface="+mn-lt"/>
          <a:ea typeface="+mn-ea"/>
          <a:cs typeface="+mn-cs"/>
        </a:defRPr>
      </a:lvl5pPr>
      <a:lvl6pPr marL="8118149" indent="-738013" algn="l" defTabSz="1476027" rtl="0" eaLnBrk="1" latinLnBrk="0" hangingPunct="1">
        <a:spcBef>
          <a:spcPct val="20000"/>
        </a:spcBef>
        <a:buFont typeface="Arial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6pPr>
      <a:lvl7pPr marL="9594175" indent="-738013" algn="l" defTabSz="1476027" rtl="0" eaLnBrk="1" latinLnBrk="0" hangingPunct="1">
        <a:spcBef>
          <a:spcPct val="20000"/>
        </a:spcBef>
        <a:buFont typeface="Arial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7pPr>
      <a:lvl8pPr marL="11070203" indent="-738013" algn="l" defTabSz="1476027" rtl="0" eaLnBrk="1" latinLnBrk="0" hangingPunct="1">
        <a:spcBef>
          <a:spcPct val="20000"/>
        </a:spcBef>
        <a:buFont typeface="Arial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8pPr>
      <a:lvl9pPr marL="12546230" indent="-738013" algn="l" defTabSz="1476027" rtl="0" eaLnBrk="1" latinLnBrk="0" hangingPunct="1">
        <a:spcBef>
          <a:spcPct val="20000"/>
        </a:spcBef>
        <a:buFont typeface="Arial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1476027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1pPr>
      <a:lvl2pPr marL="1476027" algn="l" defTabSz="1476027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2pPr>
      <a:lvl3pPr marL="2952054" algn="l" defTabSz="1476027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3pPr>
      <a:lvl4pPr marL="4428081" algn="l" defTabSz="1476027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4pPr>
      <a:lvl5pPr marL="5904109" algn="l" defTabSz="1476027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5pPr>
      <a:lvl6pPr marL="7380135" algn="l" defTabSz="1476027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6pPr>
      <a:lvl7pPr marL="8856162" algn="l" defTabSz="1476027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7pPr>
      <a:lvl8pPr marL="10332190" algn="l" defTabSz="1476027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8pPr>
      <a:lvl9pPr marL="11808216" algn="l" defTabSz="1476027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535" userDrawn="1">
          <p15:clr>
            <a:srgbClr val="F26B43"/>
          </p15:clr>
        </p15:guide>
        <p15:guide id="2" pos="67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C8A65E-A5D8-9C26-DBB6-04F643BB1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BE" dirty="0"/>
              <a:t>Salaets Florian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591C9B2-9A20-25DF-5E3D-50E54F0561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BE" dirty="0"/>
              <a:t>In Real-time Scene-aware Collaborative 3D Editor</a:t>
            </a:r>
            <a:endParaRPr lang="nl-BE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6CE358C-6F45-B163-1AA7-EAF33BAE20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BE" dirty="0"/>
              <a:t>Put Jeroen</a:t>
            </a:r>
            <a:endParaRPr lang="nl-BE" dirty="0"/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C698F6A8-6EF8-9BEF-C677-DE0BBCF366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4E00A283-03C6-5159-E38E-DEDDC807868E}"/>
              </a:ext>
            </a:extLst>
          </p:cNvPr>
          <p:cNvSpPr txBox="1"/>
          <p:nvPr/>
        </p:nvSpPr>
        <p:spPr>
          <a:xfrm>
            <a:off x="266781" y="4981729"/>
            <a:ext cx="16968274" cy="684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</a:pPr>
            <a:r>
              <a:rPr lang="nl-NL" sz="2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Software Systems Engineering Technology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015C6CC2-39A5-B293-8560-2BBABF553AD4}"/>
              </a:ext>
            </a:extLst>
          </p:cNvPr>
          <p:cNvSpPr txBox="1"/>
          <p:nvPr/>
        </p:nvSpPr>
        <p:spPr>
          <a:xfrm>
            <a:off x="14194991" y="585172"/>
            <a:ext cx="6852083" cy="646331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r"/>
            <a:r>
              <a:rPr lang="nl-BE" sz="36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202</a:t>
            </a:r>
            <a:r>
              <a:rPr lang="en-BE" sz="36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5</a:t>
            </a:r>
            <a:r>
              <a:rPr lang="nl-BE" sz="36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-202</a:t>
            </a:r>
            <a:r>
              <a:rPr lang="en-BE" sz="36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6</a:t>
            </a:r>
            <a:endParaRPr lang="nl-BE" sz="3600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27DC3D70-738C-91E5-C3A6-3AB800AF8491}"/>
              </a:ext>
            </a:extLst>
          </p:cNvPr>
          <p:cNvSpPr/>
          <p:nvPr/>
        </p:nvSpPr>
        <p:spPr>
          <a:xfrm>
            <a:off x="176473" y="6035587"/>
            <a:ext cx="993313" cy="900000"/>
          </a:xfrm>
          <a:prstGeom prst="ellipse">
            <a:avLst/>
          </a:prstGeom>
          <a:solidFill>
            <a:srgbClr val="E73C2B"/>
          </a:solidFill>
          <a:ln>
            <a:solidFill>
              <a:srgbClr val="E73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87" name="Vrije vorm: vorm 86">
            <a:extLst>
              <a:ext uri="{FF2B5EF4-FFF2-40B4-BE49-F238E27FC236}">
                <a16:creationId xmlns:a16="http://schemas.microsoft.com/office/drawing/2014/main" id="{EFA2E855-3B04-B265-D03C-8B8109328713}"/>
              </a:ext>
            </a:extLst>
          </p:cNvPr>
          <p:cNvSpPr/>
          <p:nvPr/>
        </p:nvSpPr>
        <p:spPr>
          <a:xfrm>
            <a:off x="1056835" y="6008885"/>
            <a:ext cx="9137449" cy="900000"/>
          </a:xfrm>
          <a:custGeom>
            <a:avLst/>
            <a:gdLst>
              <a:gd name="csX0" fmla="*/ 0 w 9137449"/>
              <a:gd name="csY0" fmla="*/ 0 h 900000"/>
              <a:gd name="csX1" fmla="*/ 9137449 w 9137449"/>
              <a:gd name="csY1" fmla="*/ 0 h 900000"/>
              <a:gd name="csX2" fmla="*/ 9137449 w 9137449"/>
              <a:gd name="csY2" fmla="*/ 900000 h 900000"/>
              <a:gd name="csX3" fmla="*/ 0 w 9137449"/>
              <a:gd name="csY3" fmla="*/ 900000 h 900000"/>
              <a:gd name="csX4" fmla="*/ 114755 w 9137449"/>
              <a:gd name="csY4" fmla="*/ 831838 h 900000"/>
              <a:gd name="csX5" fmla="*/ 294285 w 9137449"/>
              <a:gd name="csY5" fmla="*/ 450000 h 900000"/>
              <a:gd name="csX6" fmla="*/ 114755 w 9137449"/>
              <a:gd name="csY6" fmla="*/ 68163 h 90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137449" h="900000">
                <a:moveTo>
                  <a:pt x="0" y="0"/>
                </a:moveTo>
                <a:lnTo>
                  <a:pt x="9137449" y="0"/>
                </a:lnTo>
                <a:lnTo>
                  <a:pt x="9137449" y="900000"/>
                </a:lnTo>
                <a:lnTo>
                  <a:pt x="0" y="900000"/>
                </a:lnTo>
                <a:lnTo>
                  <a:pt x="114755" y="831838"/>
                </a:lnTo>
                <a:cubicBezTo>
                  <a:pt x="225680" y="734118"/>
                  <a:pt x="294285" y="599118"/>
                  <a:pt x="294285" y="450000"/>
                </a:cubicBezTo>
                <a:cubicBezTo>
                  <a:pt x="294285" y="300883"/>
                  <a:pt x="225680" y="165883"/>
                  <a:pt x="114755" y="68163"/>
                </a:cubicBezTo>
                <a:close/>
              </a:path>
            </a:pathLst>
          </a:custGeom>
          <a:solidFill>
            <a:srgbClr val="E73C2B"/>
          </a:solidFill>
          <a:ln>
            <a:solidFill>
              <a:srgbClr val="E73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E" dirty="0"/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D2794AD1-F328-364F-1D85-257F30E6DFF8}"/>
              </a:ext>
            </a:extLst>
          </p:cNvPr>
          <p:cNvSpPr txBox="1"/>
          <p:nvPr/>
        </p:nvSpPr>
        <p:spPr>
          <a:xfrm>
            <a:off x="469869" y="6223977"/>
            <a:ext cx="203260" cy="523220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BE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</a:p>
        </p:txBody>
      </p:sp>
      <p:sp>
        <p:nvSpPr>
          <p:cNvPr id="22" name="Tekstvak 21">
            <a:extLst>
              <a:ext uri="{FF2B5EF4-FFF2-40B4-BE49-F238E27FC236}">
                <a16:creationId xmlns:a16="http://schemas.microsoft.com/office/drawing/2014/main" id="{80CA91AB-C947-307C-98BB-65F8E9548522}"/>
              </a:ext>
            </a:extLst>
          </p:cNvPr>
          <p:cNvSpPr txBox="1"/>
          <p:nvPr/>
        </p:nvSpPr>
        <p:spPr>
          <a:xfrm>
            <a:off x="1437931" y="6223977"/>
            <a:ext cx="6824311" cy="523220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BE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Introduction</a:t>
            </a:r>
          </a:p>
        </p:txBody>
      </p:sp>
      <p:sp>
        <p:nvSpPr>
          <p:cNvPr id="30" name="Tekstvak 29">
            <a:extLst>
              <a:ext uri="{FF2B5EF4-FFF2-40B4-BE49-F238E27FC236}">
                <a16:creationId xmlns:a16="http://schemas.microsoft.com/office/drawing/2014/main" id="{647B4DC6-FD27-705E-CE57-034F9356B30A}"/>
              </a:ext>
            </a:extLst>
          </p:cNvPr>
          <p:cNvSpPr txBox="1"/>
          <p:nvPr/>
        </p:nvSpPr>
        <p:spPr>
          <a:xfrm>
            <a:off x="266781" y="7111187"/>
            <a:ext cx="9929655" cy="8433078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just"/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Game engines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such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as </a:t>
            </a:r>
            <a:r>
              <a:rPr lang="nl-NL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Unity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and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Unreal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serialise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scenes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into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large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text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or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binary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files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. V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ersion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control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surfaces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these as </a:t>
            </a:r>
            <a:r>
              <a:rPr lang="nl-NL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unresolvable</a:t>
            </a:r>
            <a:r>
              <a:rPr lang="nl-NL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merge</a:t>
            </a:r>
            <a:r>
              <a:rPr lang="nl-NL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conflicts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Text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and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2D editors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solved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this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with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real-time sync built on </a:t>
            </a:r>
            <a:r>
              <a:rPr lang="nl-NL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Operational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Transformation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(Ellis 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&amp; 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Gibbs, 1989) or </a:t>
            </a:r>
            <a:r>
              <a:rPr lang="nl-NL" sz="1800" b="1" dirty="0">
                <a:latin typeface="Verdana" panose="020B0604030504040204" pitchFamily="34" charset="0"/>
                <a:ea typeface="Verdana" panose="020B0604030504040204" pitchFamily="34" charset="0"/>
              </a:rPr>
              <a:t>Conflict-free </a:t>
            </a:r>
            <a:r>
              <a:rPr lang="nl-NL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Replicated</a:t>
            </a:r>
            <a:r>
              <a:rPr lang="nl-NL" sz="1800" b="1" dirty="0">
                <a:latin typeface="Verdana" panose="020B0604030504040204" pitchFamily="34" charset="0"/>
                <a:ea typeface="Verdana" panose="020B0604030504040204" pitchFamily="34" charset="0"/>
              </a:rPr>
              <a:t> Data Types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Shapiro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et al., 2011). Both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guarantee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strong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eventual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consistency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, but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they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differ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in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how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much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each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user's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intent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survives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(Sun 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&amp; 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Ellis, 1998).</a:t>
            </a:r>
            <a:endParaRPr lang="en-BE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endParaRPr lang="en-BE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A 3D scene is a hierarchical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scenegraph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: setting an absolute position is not commutative, but a relative movement delta is (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Preguiça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et al., 2018; Zhou et al., 2023). The 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granularity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at which conflicts are detected determines how much intent survives. No prior work compares strategies across the full range of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scenegraph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conflict types in a single, controlled environment — this research closes that gap.</a:t>
            </a:r>
            <a:endParaRPr lang="en-BE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endParaRPr lang="en-BE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BE" sz="2400" b="1" dirty="0">
                <a:latin typeface="Verdana" panose="020B0604030504040204" pitchFamily="34" charset="0"/>
                <a:ea typeface="Verdana" panose="020B0604030504040204" pitchFamily="34" charset="0"/>
              </a:rPr>
              <a:t>Research questions</a:t>
            </a:r>
            <a:endParaRPr lang="en-US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 algn="just">
              <a:lnSpc>
                <a:spcPct val="200000"/>
              </a:lnSpc>
            </a:pPr>
            <a:r>
              <a:rPr lang="en-BE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Q1	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Do all four strategies guarantee strong eventual consistency?</a:t>
            </a:r>
            <a:endParaRPr lang="en-BE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 algn="just"/>
            <a:r>
              <a:rPr lang="en-US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</a:t>
            </a:r>
            <a:r>
              <a:rPr lang="en-BE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For which conflict types does each strategy preserve both collaborators' intended changes, and where does 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intent loss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occur?</a:t>
            </a:r>
          </a:p>
          <a:p>
            <a:pPr marL="457200" indent="-457200" algn="just"/>
            <a:r>
              <a:rPr lang="en-US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</a:t>
            </a:r>
            <a:r>
              <a:rPr lang="en-BE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Does 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property-level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conflict detection (Variant B) eliminate the loss seen under object-level LWW (Variant A)?</a:t>
            </a:r>
          </a:p>
          <a:p>
            <a:pPr marL="457200" indent="-457200" algn="just"/>
            <a:r>
              <a:rPr lang="en-US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</a:t>
            </a:r>
            <a:r>
              <a:rPr lang="en-BE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Does representing movement as 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commutative deltas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(Variant C) reliably preserve the accumulated effect of concurrent movement operations?</a:t>
            </a:r>
          </a:p>
          <a:p>
            <a:pPr marL="457200" indent="-457200" algn="just"/>
            <a:r>
              <a:rPr lang="en-US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</a:t>
            </a:r>
            <a:r>
              <a:rPr lang="en-BE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What are the practical differences between the 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OT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approach (Variant D) and the 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CRDT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-based approaches (A–C) in a 3D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scenegraph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context?</a:t>
            </a:r>
          </a:p>
          <a:p>
            <a:pPr marL="457200" indent="-457200" algn="just"/>
            <a:r>
              <a:rPr lang="en-US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</a:t>
            </a:r>
            <a:r>
              <a:rPr lang="en-BE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Are these approaches a realistic way of working in the intended context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game industry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? Can they serve as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a viable or better alternative to existing file-based workflows?</a:t>
            </a:r>
          </a:p>
          <a:p>
            <a:endParaRPr lang="en-BE" sz="3000" b="1" dirty="0" err="1">
              <a:solidFill>
                <a:schemeClr val="tx1"/>
              </a:solidFill>
            </a:endParaRPr>
          </a:p>
        </p:txBody>
      </p:sp>
      <p:sp>
        <p:nvSpPr>
          <p:cNvPr id="33" name="Ovaal 32">
            <a:extLst>
              <a:ext uri="{FF2B5EF4-FFF2-40B4-BE49-F238E27FC236}">
                <a16:creationId xmlns:a16="http://schemas.microsoft.com/office/drawing/2014/main" id="{0822364A-6DF7-4759-FBE8-5ABB0230A57D}"/>
              </a:ext>
            </a:extLst>
          </p:cNvPr>
          <p:cNvSpPr/>
          <p:nvPr/>
        </p:nvSpPr>
        <p:spPr>
          <a:xfrm>
            <a:off x="11191952" y="6016642"/>
            <a:ext cx="993313" cy="900000"/>
          </a:xfrm>
          <a:prstGeom prst="ellipse">
            <a:avLst/>
          </a:prstGeom>
          <a:solidFill>
            <a:srgbClr val="E73C2B"/>
          </a:solidFill>
          <a:ln>
            <a:solidFill>
              <a:srgbClr val="E73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5" name="Tekstvak 34">
            <a:extLst>
              <a:ext uri="{FF2B5EF4-FFF2-40B4-BE49-F238E27FC236}">
                <a16:creationId xmlns:a16="http://schemas.microsoft.com/office/drawing/2014/main" id="{C572F835-9693-F797-63F3-778230FD61D4}"/>
              </a:ext>
            </a:extLst>
          </p:cNvPr>
          <p:cNvSpPr txBox="1"/>
          <p:nvPr/>
        </p:nvSpPr>
        <p:spPr>
          <a:xfrm>
            <a:off x="11485348" y="6205032"/>
            <a:ext cx="203260" cy="523220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BE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</a:p>
        </p:txBody>
      </p:sp>
      <p:sp>
        <p:nvSpPr>
          <p:cNvPr id="36" name="Tekstvak 35">
            <a:extLst>
              <a:ext uri="{FF2B5EF4-FFF2-40B4-BE49-F238E27FC236}">
                <a16:creationId xmlns:a16="http://schemas.microsoft.com/office/drawing/2014/main" id="{9F67F8E8-C433-3A10-C885-12906BBE49CC}"/>
              </a:ext>
            </a:extLst>
          </p:cNvPr>
          <p:cNvSpPr txBox="1"/>
          <p:nvPr/>
        </p:nvSpPr>
        <p:spPr>
          <a:xfrm>
            <a:off x="10108214" y="9337538"/>
            <a:ext cx="6824311" cy="523220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BE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Materials &amp; Methods</a:t>
            </a:r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DC42AF5D-F7E2-DDD6-A34C-881F371D944C}"/>
              </a:ext>
            </a:extLst>
          </p:cNvPr>
          <p:cNvSpPr txBox="1"/>
          <p:nvPr/>
        </p:nvSpPr>
        <p:spPr>
          <a:xfrm>
            <a:off x="11191951" y="10918969"/>
            <a:ext cx="9855121" cy="1200329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just"/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All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four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variants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implement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same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Collaboration-Strategy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b="1" dirty="0">
                <a:latin typeface="Verdana" panose="020B0604030504040204" pitchFamily="34" charset="0"/>
                <a:ea typeface="Verdana" panose="020B0604030504040204" pitchFamily="34" charset="0"/>
              </a:rPr>
              <a:t>interface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in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TypeScript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5.9 (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addObject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updateObject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moveObject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removeObject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linkObject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unlinkObject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subscribe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). The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application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layer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is variant-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agnostic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BE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meanin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 that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same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test suite runs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against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every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implementation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44" name="Rechthoek 43">
            <a:extLst>
              <a:ext uri="{FF2B5EF4-FFF2-40B4-BE49-F238E27FC236}">
                <a16:creationId xmlns:a16="http://schemas.microsoft.com/office/drawing/2014/main" id="{372784C6-4E80-8A42-A754-4D1B96AD15EC}"/>
              </a:ext>
            </a:extLst>
          </p:cNvPr>
          <p:cNvSpPr/>
          <p:nvPr/>
        </p:nvSpPr>
        <p:spPr>
          <a:xfrm>
            <a:off x="11191952" y="7111187"/>
            <a:ext cx="9855122" cy="341939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5" name="Rechthoek 44">
            <a:extLst>
              <a:ext uri="{FF2B5EF4-FFF2-40B4-BE49-F238E27FC236}">
                <a16:creationId xmlns:a16="http://schemas.microsoft.com/office/drawing/2014/main" id="{27195222-73D2-FB0F-D546-45634D5DAE05}"/>
              </a:ext>
            </a:extLst>
          </p:cNvPr>
          <p:cNvSpPr/>
          <p:nvPr/>
        </p:nvSpPr>
        <p:spPr>
          <a:xfrm>
            <a:off x="11191952" y="12287005"/>
            <a:ext cx="4860000" cy="1948502"/>
          </a:xfrm>
          <a:prstGeom prst="rect">
            <a:avLst/>
          </a:prstGeom>
          <a:solidFill>
            <a:srgbClr val="F4F1EA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6" name="Rechthoek 45">
            <a:extLst>
              <a:ext uri="{FF2B5EF4-FFF2-40B4-BE49-F238E27FC236}">
                <a16:creationId xmlns:a16="http://schemas.microsoft.com/office/drawing/2014/main" id="{92465642-9329-5C52-5D61-72B12528B1E6}"/>
              </a:ext>
            </a:extLst>
          </p:cNvPr>
          <p:cNvSpPr/>
          <p:nvPr/>
        </p:nvSpPr>
        <p:spPr>
          <a:xfrm>
            <a:off x="11316978" y="12395886"/>
            <a:ext cx="540000" cy="540000"/>
          </a:xfrm>
          <a:prstGeom prst="rect">
            <a:avLst/>
          </a:prstGeom>
          <a:solidFill>
            <a:srgbClr val="073C6C"/>
          </a:solidFill>
          <a:ln>
            <a:solidFill>
              <a:srgbClr val="07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800" dirty="0"/>
              <a:t>A</a:t>
            </a:r>
          </a:p>
        </p:txBody>
      </p:sp>
      <p:sp>
        <p:nvSpPr>
          <p:cNvPr id="47" name="Tekstvak 46">
            <a:extLst>
              <a:ext uri="{FF2B5EF4-FFF2-40B4-BE49-F238E27FC236}">
                <a16:creationId xmlns:a16="http://schemas.microsoft.com/office/drawing/2014/main" id="{50450CC0-9B31-6D5F-51E1-FDAD0FB2AB26}"/>
              </a:ext>
            </a:extLst>
          </p:cNvPr>
          <p:cNvSpPr txBox="1"/>
          <p:nvPr/>
        </p:nvSpPr>
        <p:spPr>
          <a:xfrm>
            <a:off x="11982004" y="12435053"/>
            <a:ext cx="3425371" cy="461665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BE" sz="2400" b="1" dirty="0">
                <a:solidFill>
                  <a:schemeClr val="tx1"/>
                </a:solidFill>
              </a:rPr>
              <a:t>Object-level LWW</a:t>
            </a:r>
          </a:p>
        </p:txBody>
      </p:sp>
      <p:sp>
        <p:nvSpPr>
          <p:cNvPr id="48" name="Tekstvak 47">
            <a:extLst>
              <a:ext uri="{FF2B5EF4-FFF2-40B4-BE49-F238E27FC236}">
                <a16:creationId xmlns:a16="http://schemas.microsoft.com/office/drawing/2014/main" id="{B098463A-7BD9-D0A1-4A02-F565ADAEF4F4}"/>
              </a:ext>
            </a:extLst>
          </p:cNvPr>
          <p:cNvSpPr txBox="1"/>
          <p:nvPr/>
        </p:nvSpPr>
        <p:spPr>
          <a:xfrm>
            <a:off x="11314258" y="12979265"/>
            <a:ext cx="4599298" cy="1200329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just"/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Single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Y.Map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&lt;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SceneObject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&gt;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Each write replaces the whole object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, this means that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concurrent edits on different properties still collide.</a:t>
            </a:r>
          </a:p>
        </p:txBody>
      </p:sp>
      <p:sp>
        <p:nvSpPr>
          <p:cNvPr id="49" name="Rechthoek 48">
            <a:extLst>
              <a:ext uri="{FF2B5EF4-FFF2-40B4-BE49-F238E27FC236}">
                <a16:creationId xmlns:a16="http://schemas.microsoft.com/office/drawing/2014/main" id="{B5270645-A266-690E-6CF5-AD6BF9B935E7}"/>
              </a:ext>
            </a:extLst>
          </p:cNvPr>
          <p:cNvSpPr/>
          <p:nvPr/>
        </p:nvSpPr>
        <p:spPr>
          <a:xfrm>
            <a:off x="16187074" y="12279402"/>
            <a:ext cx="4860000" cy="1956105"/>
          </a:xfrm>
          <a:prstGeom prst="rect">
            <a:avLst/>
          </a:prstGeom>
          <a:solidFill>
            <a:srgbClr val="F4F1EA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50" name="Rechthoek 49">
            <a:extLst>
              <a:ext uri="{FF2B5EF4-FFF2-40B4-BE49-F238E27FC236}">
                <a16:creationId xmlns:a16="http://schemas.microsoft.com/office/drawing/2014/main" id="{5C0B623C-DA46-6F50-775D-9107435C6B86}"/>
              </a:ext>
            </a:extLst>
          </p:cNvPr>
          <p:cNvSpPr/>
          <p:nvPr/>
        </p:nvSpPr>
        <p:spPr>
          <a:xfrm>
            <a:off x="16302217" y="12411684"/>
            <a:ext cx="540000" cy="540000"/>
          </a:xfrm>
          <a:prstGeom prst="rect">
            <a:avLst/>
          </a:prstGeom>
          <a:solidFill>
            <a:srgbClr val="073C6C"/>
          </a:solidFill>
          <a:ln>
            <a:solidFill>
              <a:srgbClr val="07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800" dirty="0"/>
              <a:t>B</a:t>
            </a:r>
          </a:p>
        </p:txBody>
      </p:sp>
      <p:sp>
        <p:nvSpPr>
          <p:cNvPr id="51" name="Tekstvak 50">
            <a:extLst>
              <a:ext uri="{FF2B5EF4-FFF2-40B4-BE49-F238E27FC236}">
                <a16:creationId xmlns:a16="http://schemas.microsoft.com/office/drawing/2014/main" id="{5589E1C6-D3DB-F635-CC28-7659A445AB1D}"/>
              </a:ext>
            </a:extLst>
          </p:cNvPr>
          <p:cNvSpPr txBox="1"/>
          <p:nvPr/>
        </p:nvSpPr>
        <p:spPr>
          <a:xfrm>
            <a:off x="16957159" y="12451919"/>
            <a:ext cx="3425371" cy="461665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BE" sz="2400" b="1" dirty="0">
                <a:solidFill>
                  <a:schemeClr val="tx1"/>
                </a:solidFill>
              </a:rPr>
              <a:t>Property-level LWW</a:t>
            </a:r>
          </a:p>
        </p:txBody>
      </p:sp>
      <p:sp>
        <p:nvSpPr>
          <p:cNvPr id="52" name="Tekstvak 51">
            <a:extLst>
              <a:ext uri="{FF2B5EF4-FFF2-40B4-BE49-F238E27FC236}">
                <a16:creationId xmlns:a16="http://schemas.microsoft.com/office/drawing/2014/main" id="{CC453840-B8E8-B9E7-49FE-A5F8F3CF0342}"/>
              </a:ext>
            </a:extLst>
          </p:cNvPr>
          <p:cNvSpPr txBox="1"/>
          <p:nvPr/>
        </p:nvSpPr>
        <p:spPr>
          <a:xfrm>
            <a:off x="16302215" y="13007882"/>
            <a:ext cx="4606573" cy="1200329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just"/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Nested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Y.Map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&lt;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Map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&gt;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Each scalar (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position_x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, color…) has its own key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, meaning that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only same-attribute edits collide.</a:t>
            </a:r>
          </a:p>
        </p:txBody>
      </p:sp>
      <p:sp>
        <p:nvSpPr>
          <p:cNvPr id="57" name="Rechthoek 56">
            <a:extLst>
              <a:ext uri="{FF2B5EF4-FFF2-40B4-BE49-F238E27FC236}">
                <a16:creationId xmlns:a16="http://schemas.microsoft.com/office/drawing/2014/main" id="{F10CF7E7-2C8B-2379-DE9C-B1005D9D78DF}"/>
              </a:ext>
            </a:extLst>
          </p:cNvPr>
          <p:cNvSpPr/>
          <p:nvPr/>
        </p:nvSpPr>
        <p:spPr>
          <a:xfrm>
            <a:off x="11191952" y="14344388"/>
            <a:ext cx="4860000" cy="1956104"/>
          </a:xfrm>
          <a:prstGeom prst="rect">
            <a:avLst/>
          </a:prstGeom>
          <a:solidFill>
            <a:srgbClr val="F4F1EA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58" name="Rechthoek 57">
            <a:extLst>
              <a:ext uri="{FF2B5EF4-FFF2-40B4-BE49-F238E27FC236}">
                <a16:creationId xmlns:a16="http://schemas.microsoft.com/office/drawing/2014/main" id="{DE811FD7-F215-3405-B3DC-B4D84DDFE51F}"/>
              </a:ext>
            </a:extLst>
          </p:cNvPr>
          <p:cNvSpPr/>
          <p:nvPr/>
        </p:nvSpPr>
        <p:spPr>
          <a:xfrm>
            <a:off x="11316978" y="14447207"/>
            <a:ext cx="540000" cy="540000"/>
          </a:xfrm>
          <a:prstGeom prst="rect">
            <a:avLst/>
          </a:prstGeom>
          <a:solidFill>
            <a:srgbClr val="073C6C"/>
          </a:solidFill>
          <a:ln>
            <a:solidFill>
              <a:srgbClr val="07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800" dirty="0"/>
              <a:t>C</a:t>
            </a:r>
          </a:p>
        </p:txBody>
      </p:sp>
      <p:sp>
        <p:nvSpPr>
          <p:cNvPr id="59" name="Tekstvak 58">
            <a:extLst>
              <a:ext uri="{FF2B5EF4-FFF2-40B4-BE49-F238E27FC236}">
                <a16:creationId xmlns:a16="http://schemas.microsoft.com/office/drawing/2014/main" id="{6D06476B-3736-B971-85E7-2205A2475426}"/>
              </a:ext>
            </a:extLst>
          </p:cNvPr>
          <p:cNvSpPr txBox="1"/>
          <p:nvPr/>
        </p:nvSpPr>
        <p:spPr>
          <a:xfrm>
            <a:off x="11982004" y="14492436"/>
            <a:ext cx="3425371" cy="461665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BE" sz="2400" b="1" dirty="0">
                <a:solidFill>
                  <a:schemeClr val="tx1"/>
                </a:solidFill>
              </a:rPr>
              <a:t>Operation log + deltas</a:t>
            </a:r>
          </a:p>
        </p:txBody>
      </p:sp>
      <p:sp>
        <p:nvSpPr>
          <p:cNvPr id="60" name="Tekstvak 59">
            <a:extLst>
              <a:ext uri="{FF2B5EF4-FFF2-40B4-BE49-F238E27FC236}">
                <a16:creationId xmlns:a16="http://schemas.microsoft.com/office/drawing/2014/main" id="{FB482AA5-D35E-2521-DBC4-19CCC72026A7}"/>
              </a:ext>
            </a:extLst>
          </p:cNvPr>
          <p:cNvSpPr txBox="1"/>
          <p:nvPr/>
        </p:nvSpPr>
        <p:spPr>
          <a:xfrm>
            <a:off x="11316977" y="15026576"/>
            <a:ext cx="4599298" cy="923330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just"/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Append-only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Y.Array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&lt;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Op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&gt;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Movement stored as commutative deltas rather than absolute values.</a:t>
            </a:r>
          </a:p>
        </p:txBody>
      </p:sp>
      <p:sp>
        <p:nvSpPr>
          <p:cNvPr id="61" name="Rechthoek 60">
            <a:extLst>
              <a:ext uri="{FF2B5EF4-FFF2-40B4-BE49-F238E27FC236}">
                <a16:creationId xmlns:a16="http://schemas.microsoft.com/office/drawing/2014/main" id="{86EDCE4C-66DB-C79F-661A-004CF232A766}"/>
              </a:ext>
            </a:extLst>
          </p:cNvPr>
          <p:cNvSpPr/>
          <p:nvPr/>
        </p:nvSpPr>
        <p:spPr>
          <a:xfrm>
            <a:off x="16189791" y="14344388"/>
            <a:ext cx="4860000" cy="1956105"/>
          </a:xfrm>
          <a:prstGeom prst="rect">
            <a:avLst/>
          </a:prstGeom>
          <a:solidFill>
            <a:srgbClr val="F4F1EA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62" name="Rechthoek 61">
            <a:extLst>
              <a:ext uri="{FF2B5EF4-FFF2-40B4-BE49-F238E27FC236}">
                <a16:creationId xmlns:a16="http://schemas.microsoft.com/office/drawing/2014/main" id="{E79FBE43-570F-8673-F1A2-8444D68BD245}"/>
              </a:ext>
            </a:extLst>
          </p:cNvPr>
          <p:cNvSpPr/>
          <p:nvPr/>
        </p:nvSpPr>
        <p:spPr>
          <a:xfrm>
            <a:off x="16304936" y="14447207"/>
            <a:ext cx="540000" cy="540000"/>
          </a:xfrm>
          <a:prstGeom prst="rect">
            <a:avLst/>
          </a:prstGeom>
          <a:solidFill>
            <a:srgbClr val="073C6C"/>
          </a:solidFill>
          <a:ln>
            <a:solidFill>
              <a:srgbClr val="07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800" dirty="0"/>
              <a:t>D</a:t>
            </a:r>
          </a:p>
        </p:txBody>
      </p:sp>
      <p:sp>
        <p:nvSpPr>
          <p:cNvPr id="63" name="Tekstvak 62">
            <a:extLst>
              <a:ext uri="{FF2B5EF4-FFF2-40B4-BE49-F238E27FC236}">
                <a16:creationId xmlns:a16="http://schemas.microsoft.com/office/drawing/2014/main" id="{3169FE6C-9AEA-4607-048E-8D31CBCE696C}"/>
              </a:ext>
            </a:extLst>
          </p:cNvPr>
          <p:cNvSpPr txBox="1"/>
          <p:nvPr/>
        </p:nvSpPr>
        <p:spPr>
          <a:xfrm>
            <a:off x="16959876" y="14476671"/>
            <a:ext cx="3795024" cy="461665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BE" sz="2400" b="1" dirty="0">
                <a:solidFill>
                  <a:schemeClr val="tx1"/>
                </a:solidFill>
              </a:rPr>
              <a:t>Operational Transformation</a:t>
            </a:r>
          </a:p>
        </p:txBody>
      </p:sp>
      <p:sp>
        <p:nvSpPr>
          <p:cNvPr id="64" name="Tekstvak 63">
            <a:extLst>
              <a:ext uri="{FF2B5EF4-FFF2-40B4-BE49-F238E27FC236}">
                <a16:creationId xmlns:a16="http://schemas.microsoft.com/office/drawing/2014/main" id="{87F1161E-A628-8E82-B1E9-2142685AC953}"/>
              </a:ext>
            </a:extLst>
          </p:cNvPr>
          <p:cNvSpPr txBox="1"/>
          <p:nvPr/>
        </p:nvSpPr>
        <p:spPr>
          <a:xfrm>
            <a:off x="16304933" y="15002818"/>
            <a:ext cx="4606574" cy="1200329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just"/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Authoritative in-memory server. Each op carries a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clientRevision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; server transforms ops against unseen log entries.</a:t>
            </a:r>
          </a:p>
        </p:txBody>
      </p:sp>
      <p:sp>
        <p:nvSpPr>
          <p:cNvPr id="65" name="Tekstvak 64">
            <a:extLst>
              <a:ext uri="{FF2B5EF4-FFF2-40B4-BE49-F238E27FC236}">
                <a16:creationId xmlns:a16="http://schemas.microsoft.com/office/drawing/2014/main" id="{6C1FB1CA-9C3B-B1D8-062C-4947740FF35F}"/>
              </a:ext>
            </a:extLst>
          </p:cNvPr>
          <p:cNvSpPr txBox="1"/>
          <p:nvPr/>
        </p:nvSpPr>
        <p:spPr>
          <a:xfrm>
            <a:off x="11191952" y="10607093"/>
            <a:ext cx="9855120" cy="338554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ctr"/>
            <a:r>
              <a:rPr lang="en-BE" sz="1600" b="1" dirty="0">
                <a:solidFill>
                  <a:schemeClr val="tx1"/>
                </a:solidFill>
              </a:rPr>
              <a:t>Figure 1: </a:t>
            </a:r>
            <a:r>
              <a:rPr lang="en-BE" sz="1600" dirty="0">
                <a:solidFill>
                  <a:schemeClr val="tx1"/>
                </a:solidFill>
              </a:rPr>
              <a:t>The collaborative 3D editor interface</a:t>
            </a:r>
          </a:p>
        </p:txBody>
      </p:sp>
      <p:sp>
        <p:nvSpPr>
          <p:cNvPr id="70" name="Ovaal 69">
            <a:extLst>
              <a:ext uri="{FF2B5EF4-FFF2-40B4-BE49-F238E27FC236}">
                <a16:creationId xmlns:a16="http://schemas.microsoft.com/office/drawing/2014/main" id="{FFB597B3-CB67-1D24-42F8-1F2F29E44A8C}"/>
              </a:ext>
            </a:extLst>
          </p:cNvPr>
          <p:cNvSpPr/>
          <p:nvPr/>
        </p:nvSpPr>
        <p:spPr>
          <a:xfrm>
            <a:off x="269498" y="18014612"/>
            <a:ext cx="993313" cy="900000"/>
          </a:xfrm>
          <a:prstGeom prst="ellipse">
            <a:avLst/>
          </a:prstGeom>
          <a:solidFill>
            <a:srgbClr val="E73C2B"/>
          </a:solidFill>
          <a:ln>
            <a:solidFill>
              <a:srgbClr val="E73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71" name="Vrije vorm: vorm 70">
            <a:extLst>
              <a:ext uri="{FF2B5EF4-FFF2-40B4-BE49-F238E27FC236}">
                <a16:creationId xmlns:a16="http://schemas.microsoft.com/office/drawing/2014/main" id="{37F4D429-DFC4-AE67-0A9F-EB7EB2C5AE41}"/>
              </a:ext>
            </a:extLst>
          </p:cNvPr>
          <p:cNvSpPr/>
          <p:nvPr/>
        </p:nvSpPr>
        <p:spPr>
          <a:xfrm>
            <a:off x="1140303" y="18014612"/>
            <a:ext cx="19909488" cy="900000"/>
          </a:xfrm>
          <a:custGeom>
            <a:avLst/>
            <a:gdLst>
              <a:gd name="csX0" fmla="*/ 0 w 7134354"/>
              <a:gd name="csY0" fmla="*/ 0 h 360000"/>
              <a:gd name="csX1" fmla="*/ 7134354 w 7134354"/>
              <a:gd name="csY1" fmla="*/ 0 h 360000"/>
              <a:gd name="csX2" fmla="*/ 7134354 w 7134354"/>
              <a:gd name="csY2" fmla="*/ 360000 h 360000"/>
              <a:gd name="csX3" fmla="*/ 0 w 7134354"/>
              <a:gd name="csY3" fmla="*/ 360000 h 360000"/>
              <a:gd name="csX4" fmla="*/ 40439 w 7134354"/>
              <a:gd name="csY4" fmla="*/ 332735 h 360000"/>
              <a:gd name="csX5" fmla="*/ 103704 w 7134354"/>
              <a:gd name="csY5" fmla="*/ 180000 h 360000"/>
              <a:gd name="csX6" fmla="*/ 40439 w 7134354"/>
              <a:gd name="csY6" fmla="*/ 27265 h 36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134354" h="360000">
                <a:moveTo>
                  <a:pt x="0" y="0"/>
                </a:moveTo>
                <a:lnTo>
                  <a:pt x="7134354" y="0"/>
                </a:lnTo>
                <a:lnTo>
                  <a:pt x="7134354" y="360000"/>
                </a:lnTo>
                <a:lnTo>
                  <a:pt x="0" y="360000"/>
                </a:lnTo>
                <a:lnTo>
                  <a:pt x="40439" y="332735"/>
                </a:lnTo>
                <a:cubicBezTo>
                  <a:pt x="79528" y="293647"/>
                  <a:pt x="103704" y="239647"/>
                  <a:pt x="103704" y="180000"/>
                </a:cubicBezTo>
                <a:cubicBezTo>
                  <a:pt x="103704" y="120353"/>
                  <a:pt x="79528" y="66353"/>
                  <a:pt x="40439" y="27265"/>
                </a:cubicBezTo>
                <a:close/>
              </a:path>
            </a:pathLst>
          </a:custGeom>
          <a:solidFill>
            <a:srgbClr val="E73C2B"/>
          </a:solidFill>
          <a:ln>
            <a:solidFill>
              <a:srgbClr val="E73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E" dirty="0"/>
          </a:p>
        </p:txBody>
      </p:sp>
      <p:sp>
        <p:nvSpPr>
          <p:cNvPr id="72" name="Tekstvak 71">
            <a:extLst>
              <a:ext uri="{FF2B5EF4-FFF2-40B4-BE49-F238E27FC236}">
                <a16:creationId xmlns:a16="http://schemas.microsoft.com/office/drawing/2014/main" id="{A787C189-A8B7-A2CB-63CB-070DC4F19BE4}"/>
              </a:ext>
            </a:extLst>
          </p:cNvPr>
          <p:cNvSpPr txBox="1"/>
          <p:nvPr/>
        </p:nvSpPr>
        <p:spPr>
          <a:xfrm>
            <a:off x="562894" y="18203002"/>
            <a:ext cx="203260" cy="523220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BE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</a:p>
        </p:txBody>
      </p:sp>
      <p:sp>
        <p:nvSpPr>
          <p:cNvPr id="73" name="Tekstvak 72">
            <a:extLst>
              <a:ext uri="{FF2B5EF4-FFF2-40B4-BE49-F238E27FC236}">
                <a16:creationId xmlns:a16="http://schemas.microsoft.com/office/drawing/2014/main" id="{1DC29EDC-5EE7-3E78-2D65-2610F36A12BF}"/>
              </a:ext>
            </a:extLst>
          </p:cNvPr>
          <p:cNvSpPr txBox="1"/>
          <p:nvPr/>
        </p:nvSpPr>
        <p:spPr>
          <a:xfrm>
            <a:off x="1530956" y="18203002"/>
            <a:ext cx="6824311" cy="523220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BE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Results &amp; Discussion</a:t>
            </a:r>
          </a:p>
        </p:txBody>
      </p:sp>
      <p:sp>
        <p:nvSpPr>
          <p:cNvPr id="89" name="Vrije vorm: vorm 88">
            <a:extLst>
              <a:ext uri="{FF2B5EF4-FFF2-40B4-BE49-F238E27FC236}">
                <a16:creationId xmlns:a16="http://schemas.microsoft.com/office/drawing/2014/main" id="{F080B09E-F83E-E5C4-FF54-A6BAB9335FEC}"/>
              </a:ext>
            </a:extLst>
          </p:cNvPr>
          <p:cNvSpPr/>
          <p:nvPr/>
        </p:nvSpPr>
        <p:spPr>
          <a:xfrm>
            <a:off x="12072316" y="6016642"/>
            <a:ext cx="8974757" cy="900000"/>
          </a:xfrm>
          <a:custGeom>
            <a:avLst/>
            <a:gdLst>
              <a:gd name="csX0" fmla="*/ 0 w 8974757"/>
              <a:gd name="csY0" fmla="*/ 0 h 900000"/>
              <a:gd name="csX1" fmla="*/ 8974757 w 8974757"/>
              <a:gd name="csY1" fmla="*/ 0 h 900000"/>
              <a:gd name="csX2" fmla="*/ 8974757 w 8974757"/>
              <a:gd name="csY2" fmla="*/ 900000 h 900000"/>
              <a:gd name="csX3" fmla="*/ 0 w 8974757"/>
              <a:gd name="csY3" fmla="*/ 900000 h 900000"/>
              <a:gd name="csX4" fmla="*/ 114755 w 8974757"/>
              <a:gd name="csY4" fmla="*/ 831838 h 900000"/>
              <a:gd name="csX5" fmla="*/ 294285 w 8974757"/>
              <a:gd name="csY5" fmla="*/ 450000 h 900000"/>
              <a:gd name="csX6" fmla="*/ 114755 w 8974757"/>
              <a:gd name="csY6" fmla="*/ 68163 h 90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974757" h="900000">
                <a:moveTo>
                  <a:pt x="0" y="0"/>
                </a:moveTo>
                <a:lnTo>
                  <a:pt x="8974757" y="0"/>
                </a:lnTo>
                <a:lnTo>
                  <a:pt x="8974757" y="900000"/>
                </a:lnTo>
                <a:lnTo>
                  <a:pt x="0" y="900000"/>
                </a:lnTo>
                <a:lnTo>
                  <a:pt x="114755" y="831838"/>
                </a:lnTo>
                <a:cubicBezTo>
                  <a:pt x="225680" y="734118"/>
                  <a:pt x="294285" y="599118"/>
                  <a:pt x="294285" y="450000"/>
                </a:cubicBezTo>
                <a:cubicBezTo>
                  <a:pt x="294285" y="300883"/>
                  <a:pt x="225680" y="165883"/>
                  <a:pt x="114755" y="68163"/>
                </a:cubicBezTo>
                <a:close/>
              </a:path>
            </a:pathLst>
          </a:custGeom>
          <a:solidFill>
            <a:srgbClr val="E73C2B"/>
          </a:solidFill>
          <a:ln>
            <a:solidFill>
              <a:srgbClr val="E73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E" dirty="0"/>
          </a:p>
        </p:txBody>
      </p:sp>
      <p:sp>
        <p:nvSpPr>
          <p:cNvPr id="83" name="Tekstvak 82">
            <a:extLst>
              <a:ext uri="{FF2B5EF4-FFF2-40B4-BE49-F238E27FC236}">
                <a16:creationId xmlns:a16="http://schemas.microsoft.com/office/drawing/2014/main" id="{266A656F-CFD0-46E7-B2BC-2EEFC72BA791}"/>
              </a:ext>
            </a:extLst>
          </p:cNvPr>
          <p:cNvSpPr txBox="1"/>
          <p:nvPr/>
        </p:nvSpPr>
        <p:spPr>
          <a:xfrm>
            <a:off x="12478660" y="6211187"/>
            <a:ext cx="6824311" cy="523220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BE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Materials &amp; Methods</a:t>
            </a:r>
          </a:p>
        </p:txBody>
      </p:sp>
      <p:sp>
        <p:nvSpPr>
          <p:cNvPr id="90" name="Tekstvak 89">
            <a:extLst>
              <a:ext uri="{FF2B5EF4-FFF2-40B4-BE49-F238E27FC236}">
                <a16:creationId xmlns:a16="http://schemas.microsoft.com/office/drawing/2014/main" id="{EE406131-D0EB-4007-9A54-B99833DB9853}"/>
              </a:ext>
            </a:extLst>
          </p:cNvPr>
          <p:cNvSpPr txBox="1"/>
          <p:nvPr/>
        </p:nvSpPr>
        <p:spPr>
          <a:xfrm>
            <a:off x="11189233" y="16375699"/>
            <a:ext cx="9855121" cy="1477328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just"/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Fifteen scenarios were implemented in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Vitest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4.0. Two simulated clients (Alice, Bob) share a scene;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disableSync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()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pauses replication while both act independently, then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enableSync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()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reconnects them. Two metrics are recorded: 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(M1) Convergence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— all clients reach an identical state — and 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(M2) Intent preservation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— how many intended property changes survive.</a:t>
            </a:r>
          </a:p>
        </p:txBody>
      </p:sp>
      <p:sp>
        <p:nvSpPr>
          <p:cNvPr id="91" name="Tekstvak 90">
            <a:extLst>
              <a:ext uri="{FF2B5EF4-FFF2-40B4-BE49-F238E27FC236}">
                <a16:creationId xmlns:a16="http://schemas.microsoft.com/office/drawing/2014/main" id="{CEB5CB20-5C61-5475-098F-FA48E5A04F4C}"/>
              </a:ext>
            </a:extLst>
          </p:cNvPr>
          <p:cNvSpPr txBox="1"/>
          <p:nvPr/>
        </p:nvSpPr>
        <p:spPr>
          <a:xfrm>
            <a:off x="272217" y="19021920"/>
            <a:ext cx="9841433" cy="1200329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just"/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All four variants pass 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convergence</a:t>
            </a:r>
            <a:r>
              <a:rPr lang="en-BE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on every scenario, satisfying strong eventual consistency (Shapiro et al., 2011). Convergence is necessary but not sufficient — two systems can converge to the same wrong outcome. </a:t>
            </a:r>
            <a:r>
              <a:rPr lang="en-BE" sz="1800" b="1" dirty="0">
                <a:latin typeface="Verdana" panose="020B0604030504040204" pitchFamily="34" charset="0"/>
                <a:ea typeface="Verdana" panose="020B0604030504040204" pitchFamily="34" charset="0"/>
              </a:rPr>
              <a:t>Table 1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shows how 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intent preservation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differs.</a:t>
            </a:r>
          </a:p>
        </p:txBody>
      </p:sp>
      <p:sp>
        <p:nvSpPr>
          <p:cNvPr id="93" name="Ovaal 92">
            <a:extLst>
              <a:ext uri="{FF2B5EF4-FFF2-40B4-BE49-F238E27FC236}">
                <a16:creationId xmlns:a16="http://schemas.microsoft.com/office/drawing/2014/main" id="{76FC55DB-91DE-2CFF-5151-C559D6CC4B2E}"/>
              </a:ext>
            </a:extLst>
          </p:cNvPr>
          <p:cNvSpPr/>
          <p:nvPr/>
        </p:nvSpPr>
        <p:spPr>
          <a:xfrm>
            <a:off x="181650" y="23508244"/>
            <a:ext cx="993313" cy="900000"/>
          </a:xfrm>
          <a:prstGeom prst="ellipse">
            <a:avLst/>
          </a:prstGeom>
          <a:solidFill>
            <a:srgbClr val="E73C2B"/>
          </a:solidFill>
          <a:ln>
            <a:solidFill>
              <a:srgbClr val="E73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94" name="Vrije vorm: vorm 93">
            <a:extLst>
              <a:ext uri="{FF2B5EF4-FFF2-40B4-BE49-F238E27FC236}">
                <a16:creationId xmlns:a16="http://schemas.microsoft.com/office/drawing/2014/main" id="{FC155713-F8A9-F4F1-44A3-BB421D93469C}"/>
              </a:ext>
            </a:extLst>
          </p:cNvPr>
          <p:cNvSpPr/>
          <p:nvPr/>
        </p:nvSpPr>
        <p:spPr>
          <a:xfrm>
            <a:off x="1052455" y="23508244"/>
            <a:ext cx="19909488" cy="900000"/>
          </a:xfrm>
          <a:custGeom>
            <a:avLst/>
            <a:gdLst>
              <a:gd name="csX0" fmla="*/ 0 w 7134354"/>
              <a:gd name="csY0" fmla="*/ 0 h 360000"/>
              <a:gd name="csX1" fmla="*/ 7134354 w 7134354"/>
              <a:gd name="csY1" fmla="*/ 0 h 360000"/>
              <a:gd name="csX2" fmla="*/ 7134354 w 7134354"/>
              <a:gd name="csY2" fmla="*/ 360000 h 360000"/>
              <a:gd name="csX3" fmla="*/ 0 w 7134354"/>
              <a:gd name="csY3" fmla="*/ 360000 h 360000"/>
              <a:gd name="csX4" fmla="*/ 40439 w 7134354"/>
              <a:gd name="csY4" fmla="*/ 332735 h 360000"/>
              <a:gd name="csX5" fmla="*/ 103704 w 7134354"/>
              <a:gd name="csY5" fmla="*/ 180000 h 360000"/>
              <a:gd name="csX6" fmla="*/ 40439 w 7134354"/>
              <a:gd name="csY6" fmla="*/ 27265 h 36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134354" h="360000">
                <a:moveTo>
                  <a:pt x="0" y="0"/>
                </a:moveTo>
                <a:lnTo>
                  <a:pt x="7134354" y="0"/>
                </a:lnTo>
                <a:lnTo>
                  <a:pt x="7134354" y="360000"/>
                </a:lnTo>
                <a:lnTo>
                  <a:pt x="0" y="360000"/>
                </a:lnTo>
                <a:lnTo>
                  <a:pt x="40439" y="332735"/>
                </a:lnTo>
                <a:cubicBezTo>
                  <a:pt x="79528" y="293647"/>
                  <a:pt x="103704" y="239647"/>
                  <a:pt x="103704" y="180000"/>
                </a:cubicBezTo>
                <a:cubicBezTo>
                  <a:pt x="103704" y="120353"/>
                  <a:pt x="79528" y="66353"/>
                  <a:pt x="40439" y="27265"/>
                </a:cubicBezTo>
                <a:close/>
              </a:path>
            </a:pathLst>
          </a:custGeom>
          <a:solidFill>
            <a:srgbClr val="E73C2B"/>
          </a:solidFill>
          <a:ln>
            <a:solidFill>
              <a:srgbClr val="E73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E" dirty="0"/>
          </a:p>
        </p:txBody>
      </p:sp>
      <p:sp>
        <p:nvSpPr>
          <p:cNvPr id="95" name="Tekstvak 94">
            <a:extLst>
              <a:ext uri="{FF2B5EF4-FFF2-40B4-BE49-F238E27FC236}">
                <a16:creationId xmlns:a16="http://schemas.microsoft.com/office/drawing/2014/main" id="{64B3CC5D-1789-0246-42A1-7948D145701A}"/>
              </a:ext>
            </a:extLst>
          </p:cNvPr>
          <p:cNvSpPr txBox="1"/>
          <p:nvPr/>
        </p:nvSpPr>
        <p:spPr>
          <a:xfrm>
            <a:off x="475046" y="23696634"/>
            <a:ext cx="203260" cy="523220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BE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</a:t>
            </a:r>
          </a:p>
        </p:txBody>
      </p:sp>
      <p:sp>
        <p:nvSpPr>
          <p:cNvPr id="96" name="Tekstvak 95">
            <a:extLst>
              <a:ext uri="{FF2B5EF4-FFF2-40B4-BE49-F238E27FC236}">
                <a16:creationId xmlns:a16="http://schemas.microsoft.com/office/drawing/2014/main" id="{ED0FB577-2388-EDAE-1B4D-FF1882B87270}"/>
              </a:ext>
            </a:extLst>
          </p:cNvPr>
          <p:cNvSpPr txBox="1"/>
          <p:nvPr/>
        </p:nvSpPr>
        <p:spPr>
          <a:xfrm>
            <a:off x="1443108" y="23696634"/>
            <a:ext cx="6824311" cy="523220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BE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Conclusion</a:t>
            </a:r>
          </a:p>
        </p:txBody>
      </p:sp>
      <p:sp>
        <p:nvSpPr>
          <p:cNvPr id="97" name="Tekstvak 96">
            <a:extLst>
              <a:ext uri="{FF2B5EF4-FFF2-40B4-BE49-F238E27FC236}">
                <a16:creationId xmlns:a16="http://schemas.microsoft.com/office/drawing/2014/main" id="{232A34FD-29AF-C618-A4FD-B7155A43A8EC}"/>
              </a:ext>
            </a:extLst>
          </p:cNvPr>
          <p:cNvSpPr txBox="1"/>
          <p:nvPr/>
        </p:nvSpPr>
        <p:spPr>
          <a:xfrm>
            <a:off x="266679" y="23052547"/>
            <a:ext cx="9841432" cy="584775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ctr"/>
            <a:r>
              <a:rPr lang="en-BE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Table 1: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Outcome of each strategy per conflict family across 15 scenarios</a:t>
            </a:r>
          </a:p>
          <a:p>
            <a:pPr algn="ctr"/>
            <a:endParaRPr lang="en-BE" sz="1600" dirty="0">
              <a:solidFill>
                <a:schemeClr val="tx1"/>
              </a:solidFill>
            </a:endParaRPr>
          </a:p>
        </p:txBody>
      </p:sp>
      <p:graphicFrame>
        <p:nvGraphicFramePr>
          <p:cNvPr id="101" name="Table 0">
            <a:extLst>
              <a:ext uri="{FF2B5EF4-FFF2-40B4-BE49-F238E27FC236}">
                <a16:creationId xmlns:a16="http://schemas.microsoft.com/office/drawing/2014/main" id="{9FAC4109-02C4-A826-BD32-4124A8F84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993026"/>
              </p:ext>
            </p:extLst>
          </p:nvPr>
        </p:nvGraphicFramePr>
        <p:xfrm>
          <a:off x="266680" y="20222250"/>
          <a:ext cx="9846971" cy="2794079"/>
        </p:xfrm>
        <a:graphic>
          <a:graphicData uri="http://schemas.openxmlformats.org/drawingml/2006/table">
            <a:tbl>
              <a:tblPr/>
              <a:tblGrid>
                <a:gridCol w="4677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0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0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7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08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8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Conflict scenario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C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C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C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C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C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Same-property edit </a:t>
                      </a:r>
                      <a:r>
                        <a:rPr lang="en-US" sz="1200" dirty="0">
                          <a:solidFill>
                            <a:srgbClr val="6A7283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S1, S12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LWW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LWW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LWW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1st wins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Different property, same object </a:t>
                      </a:r>
                      <a:r>
                        <a:rPr lang="en-US" sz="1200" dirty="0">
                          <a:solidFill>
                            <a:srgbClr val="6A7283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S2, S8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A2D12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 lost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6B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both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6B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both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6B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both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8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Four disjoint properties </a:t>
                      </a:r>
                      <a:r>
                        <a:rPr lang="en-US" sz="1200" dirty="0">
                          <a:solidFill>
                            <a:srgbClr val="6A7283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S14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A2D12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 lost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6B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all 4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6B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all 4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6B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all 4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8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Repeated movement deltas </a:t>
                      </a:r>
                      <a:r>
                        <a:rPr lang="en-US" sz="1200" dirty="0">
                          <a:solidFill>
                            <a:srgbClr val="6A7283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S4, S15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A2D12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 lost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A2D12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 lost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6B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accumulate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A2D12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 lost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8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Edit on deleted object </a:t>
                      </a:r>
                      <a:r>
                        <a:rPr lang="en-US" sz="1200" dirty="0">
                          <a:solidFill>
                            <a:srgbClr val="6A7283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S3, S9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C5C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no-op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C5C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no-op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C5C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no-op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C5C1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no-op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8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Concurrent reparent </a:t>
                      </a:r>
                      <a:r>
                        <a:rPr lang="en-US" sz="1200" dirty="0">
                          <a:solidFill>
                            <a:srgbClr val="6A7283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S5, S10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LWW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LWW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LWW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181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LWW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3086" marR="123086" marT="61544" marB="61544" anchor="ctr">
                    <a:lnL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2" name="Tekstvak 101">
            <a:extLst>
              <a:ext uri="{FF2B5EF4-FFF2-40B4-BE49-F238E27FC236}">
                <a16:creationId xmlns:a16="http://schemas.microsoft.com/office/drawing/2014/main" id="{354D0160-4491-2C6E-0D44-9359640B4F55}"/>
              </a:ext>
            </a:extLst>
          </p:cNvPr>
          <p:cNvSpPr txBox="1"/>
          <p:nvPr/>
        </p:nvSpPr>
        <p:spPr>
          <a:xfrm>
            <a:off x="11197388" y="19021920"/>
            <a:ext cx="9841431" cy="3970318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just"/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The largest difference appears in 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different-property conflicts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(S2, S8, S14). Variant A treats the whole object as one merge unit, so an Alice-moves-while-Bob-recolors edit collapses to one full-object write — half the intent is gone. Variants B, C and D resolve at property granularity and preserve both edits.</a:t>
            </a:r>
            <a:endParaRPr lang="en-BE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endParaRPr lang="en-BE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Delta commutativity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(S15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).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Alice moves an object +1·X three times while offline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Bob moves it +1·X twice. Ideal: 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+5</a:t>
            </a:r>
            <a:r>
              <a:rPr lang="en-BE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Variants A, B and D submit absolute positions — one final write overwrites the other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, yielding either +3 or +2.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Variant C appends each move as a delta to the shared log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. A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ddition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is commutative, so order does not matter 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and all five moves always accumulate to +5.</a:t>
            </a:r>
          </a:p>
          <a:p>
            <a:pPr algn="just"/>
            <a:endParaRPr lang="en-BE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nl-NL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Granularity</a:t>
            </a:r>
            <a:r>
              <a:rPr lang="nl-NL" sz="1800" b="1" dirty="0">
                <a:latin typeface="Verdana" panose="020B0604030504040204" pitchFamily="34" charset="0"/>
                <a:ea typeface="Verdana" panose="020B0604030504040204" pitchFamily="34" charset="0"/>
              </a:rPr>
              <a:t> ladder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Bigger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merge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units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cause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more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collateral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loss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. The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contention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zone</a:t>
            </a:r>
            <a:r>
              <a:rPr lang="en-BE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shrinks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from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whole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file →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whole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object (A) → single property (B, D) →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nothing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for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commutative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NL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ops</a:t>
            </a:r>
            <a:r>
              <a:rPr lang="nl-NL" sz="1800" dirty="0">
                <a:latin typeface="Verdana" panose="020B0604030504040204" pitchFamily="34" charset="0"/>
                <a:ea typeface="Verdana" panose="020B0604030504040204" pitchFamily="34" charset="0"/>
              </a:rPr>
              <a:t> (C).</a:t>
            </a:r>
          </a:p>
        </p:txBody>
      </p:sp>
      <p:sp>
        <p:nvSpPr>
          <p:cNvPr id="107" name="Tijdelijke aanduiding voor inhoud 106">
            <a:extLst>
              <a:ext uri="{FF2B5EF4-FFF2-40B4-BE49-F238E27FC236}">
                <a16:creationId xmlns:a16="http://schemas.microsoft.com/office/drawing/2014/main" id="{FF87DAB1-8604-C9CB-17E7-5F68DAD795D9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129" name="Vrije vorm: vorm 128">
            <a:extLst>
              <a:ext uri="{FF2B5EF4-FFF2-40B4-BE49-F238E27FC236}">
                <a16:creationId xmlns:a16="http://schemas.microsoft.com/office/drawing/2014/main" id="{57415D12-ACF4-234A-18CC-673CA495E930}"/>
              </a:ext>
            </a:extLst>
          </p:cNvPr>
          <p:cNvSpPr/>
          <p:nvPr/>
        </p:nvSpPr>
        <p:spPr>
          <a:xfrm>
            <a:off x="181912" y="24589294"/>
            <a:ext cx="20735031" cy="1697406"/>
          </a:xfrm>
          <a:custGeom>
            <a:avLst/>
            <a:gdLst>
              <a:gd name="csX0" fmla="*/ 13697573 w 18112148"/>
              <a:gd name="csY0" fmla="*/ 0 h 1956104"/>
              <a:gd name="csX1" fmla="*/ 18112148 w 18112148"/>
              <a:gd name="csY1" fmla="*/ 0 h 1956104"/>
              <a:gd name="csX2" fmla="*/ 18112148 w 18112148"/>
              <a:gd name="csY2" fmla="*/ 1956104 h 1956104"/>
              <a:gd name="csX3" fmla="*/ 13697573 w 18112148"/>
              <a:gd name="csY3" fmla="*/ 1956104 h 1956104"/>
              <a:gd name="csX4" fmla="*/ 9131715 w 18112148"/>
              <a:gd name="csY4" fmla="*/ 0 h 1956104"/>
              <a:gd name="csX5" fmla="*/ 13546291 w 18112148"/>
              <a:gd name="csY5" fmla="*/ 0 h 1956104"/>
              <a:gd name="csX6" fmla="*/ 13546291 w 18112148"/>
              <a:gd name="csY6" fmla="*/ 1956104 h 1956104"/>
              <a:gd name="csX7" fmla="*/ 9131715 w 18112148"/>
              <a:gd name="csY7" fmla="*/ 1956104 h 1956104"/>
              <a:gd name="csX8" fmla="*/ 4565858 w 18112148"/>
              <a:gd name="csY8" fmla="*/ 0 h 1956104"/>
              <a:gd name="csX9" fmla="*/ 8980433 w 18112148"/>
              <a:gd name="csY9" fmla="*/ 0 h 1956104"/>
              <a:gd name="csX10" fmla="*/ 8980433 w 18112148"/>
              <a:gd name="csY10" fmla="*/ 1956104 h 1956104"/>
              <a:gd name="csX11" fmla="*/ 4565858 w 18112148"/>
              <a:gd name="csY11" fmla="*/ 1956104 h 1956104"/>
              <a:gd name="csX12" fmla="*/ 0 w 18112148"/>
              <a:gd name="csY12" fmla="*/ 0 h 1956104"/>
              <a:gd name="csX13" fmla="*/ 4414576 w 18112148"/>
              <a:gd name="csY13" fmla="*/ 0 h 1956104"/>
              <a:gd name="csX14" fmla="*/ 4414576 w 18112148"/>
              <a:gd name="csY14" fmla="*/ 1956104 h 1956104"/>
              <a:gd name="csX15" fmla="*/ 0 w 18112148"/>
              <a:gd name="csY15" fmla="*/ 1956104 h 19561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8112148" h="1956104">
                <a:moveTo>
                  <a:pt x="13697573" y="0"/>
                </a:moveTo>
                <a:lnTo>
                  <a:pt x="18112148" y="0"/>
                </a:lnTo>
                <a:lnTo>
                  <a:pt x="18112148" y="1956104"/>
                </a:lnTo>
                <a:lnTo>
                  <a:pt x="13697573" y="1956104"/>
                </a:lnTo>
                <a:close/>
                <a:moveTo>
                  <a:pt x="9131715" y="0"/>
                </a:moveTo>
                <a:lnTo>
                  <a:pt x="13546291" y="0"/>
                </a:lnTo>
                <a:lnTo>
                  <a:pt x="13546291" y="1956104"/>
                </a:lnTo>
                <a:lnTo>
                  <a:pt x="9131715" y="1956104"/>
                </a:lnTo>
                <a:close/>
                <a:moveTo>
                  <a:pt x="4565858" y="0"/>
                </a:moveTo>
                <a:lnTo>
                  <a:pt x="8980433" y="0"/>
                </a:lnTo>
                <a:lnTo>
                  <a:pt x="8980433" y="1956104"/>
                </a:lnTo>
                <a:lnTo>
                  <a:pt x="4565858" y="1956104"/>
                </a:lnTo>
                <a:close/>
                <a:moveTo>
                  <a:pt x="0" y="0"/>
                </a:moveTo>
                <a:lnTo>
                  <a:pt x="4414576" y="0"/>
                </a:lnTo>
                <a:lnTo>
                  <a:pt x="4414576" y="1956104"/>
                </a:lnTo>
                <a:lnTo>
                  <a:pt x="0" y="1956104"/>
                </a:lnTo>
                <a:close/>
              </a:path>
            </a:pathLst>
          </a:custGeom>
          <a:solidFill>
            <a:srgbClr val="F4F1EA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E"/>
          </a:p>
        </p:txBody>
      </p:sp>
      <p:sp>
        <p:nvSpPr>
          <p:cNvPr id="130" name="Tekstvak 129">
            <a:extLst>
              <a:ext uri="{FF2B5EF4-FFF2-40B4-BE49-F238E27FC236}">
                <a16:creationId xmlns:a16="http://schemas.microsoft.com/office/drawing/2014/main" id="{49B0DA74-730F-DE02-0CE7-29563A635061}"/>
              </a:ext>
            </a:extLst>
          </p:cNvPr>
          <p:cNvSpPr txBox="1"/>
          <p:nvPr/>
        </p:nvSpPr>
        <p:spPr>
          <a:xfrm>
            <a:off x="181913" y="24589294"/>
            <a:ext cx="5063182" cy="2077492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BE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Q1 - Convergence</a:t>
            </a:r>
          </a:p>
          <a:p>
            <a:pPr>
              <a:lnSpc>
                <a:spcPct val="150000"/>
              </a:lnSpc>
            </a:pPr>
            <a:r>
              <a:rPr lang="en-BE" sz="1800" b="1" dirty="0">
                <a:latin typeface="Verdana" panose="020B0604030504040204" pitchFamily="34" charset="0"/>
                <a:ea typeface="Verdana" panose="020B0604030504040204" pitchFamily="34" charset="0"/>
              </a:rPr>
              <a:t>All four converges</a:t>
            </a:r>
          </a:p>
          <a:p>
            <a:pPr algn="just"/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Every variant satisfies SEC across 15 scenarios. A–C inherit it from Y.js; D from server broadcast.</a:t>
            </a:r>
          </a:p>
          <a:p>
            <a:endParaRPr lang="en-BE" sz="3000" b="1" dirty="0" err="1">
              <a:solidFill>
                <a:schemeClr val="tx1"/>
              </a:solidFill>
            </a:endParaRPr>
          </a:p>
        </p:txBody>
      </p:sp>
      <p:sp>
        <p:nvSpPr>
          <p:cNvPr id="132" name="Tekstvak 131">
            <a:extLst>
              <a:ext uri="{FF2B5EF4-FFF2-40B4-BE49-F238E27FC236}">
                <a16:creationId xmlns:a16="http://schemas.microsoft.com/office/drawing/2014/main" id="{36E17B0B-C276-08F6-0770-32AD8CB8A956}"/>
              </a:ext>
            </a:extLst>
          </p:cNvPr>
          <p:cNvSpPr txBox="1"/>
          <p:nvPr/>
        </p:nvSpPr>
        <p:spPr>
          <a:xfrm>
            <a:off x="5409001" y="24589294"/>
            <a:ext cx="5063182" cy="1615827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BE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Q2 / Q3 - Granularity</a:t>
            </a:r>
          </a:p>
          <a:p>
            <a:pPr>
              <a:lnSpc>
                <a:spcPct val="150000"/>
              </a:lnSpc>
            </a:pPr>
            <a:r>
              <a:rPr lang="en-BE" sz="1800" b="1" dirty="0">
                <a:latin typeface="Verdana" panose="020B0604030504040204" pitchFamily="34" charset="0"/>
                <a:ea typeface="Verdana" panose="020B0604030504040204" pitchFamily="34" charset="0"/>
              </a:rPr>
              <a:t>Property &amp; object</a:t>
            </a:r>
          </a:p>
          <a:p>
            <a:pPr algn="just"/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B, C and D preserve all changes when properties don't overlap (S2, S8, S14). A loses one client's edit on every collision.</a:t>
            </a:r>
          </a:p>
        </p:txBody>
      </p:sp>
      <p:sp>
        <p:nvSpPr>
          <p:cNvPr id="133" name="Tekstvak 132">
            <a:extLst>
              <a:ext uri="{FF2B5EF4-FFF2-40B4-BE49-F238E27FC236}">
                <a16:creationId xmlns:a16="http://schemas.microsoft.com/office/drawing/2014/main" id="{B6FEABAE-DC93-3B14-D901-6B9F7E731BF9}"/>
              </a:ext>
            </a:extLst>
          </p:cNvPr>
          <p:cNvSpPr txBox="1"/>
          <p:nvPr/>
        </p:nvSpPr>
        <p:spPr>
          <a:xfrm>
            <a:off x="10617210" y="24589294"/>
            <a:ext cx="5063182" cy="1615827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BE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Q4 - Deltas</a:t>
            </a:r>
          </a:p>
          <a:p>
            <a:pPr>
              <a:lnSpc>
                <a:spcPct val="150000"/>
              </a:lnSpc>
            </a:pPr>
            <a:r>
              <a:rPr lang="en-BE" sz="1800" b="1" dirty="0">
                <a:latin typeface="Verdana" panose="020B0604030504040204" pitchFamily="34" charset="0"/>
                <a:ea typeface="Verdana" panose="020B0604030504040204" pitchFamily="34" charset="0"/>
              </a:rPr>
              <a:t>Only C accumulates moves</a:t>
            </a:r>
          </a:p>
          <a:p>
            <a:pPr algn="just"/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Commutative delta operations carry zero risk of loss for repeated movements. A, B and D all degrade to LWW.</a:t>
            </a:r>
          </a:p>
        </p:txBody>
      </p:sp>
      <p:sp>
        <p:nvSpPr>
          <p:cNvPr id="134" name="Tekstvak 133">
            <a:extLst>
              <a:ext uri="{FF2B5EF4-FFF2-40B4-BE49-F238E27FC236}">
                <a16:creationId xmlns:a16="http://schemas.microsoft.com/office/drawing/2014/main" id="{4160F978-BCE0-708C-16D0-9A5F72A341D1}"/>
              </a:ext>
            </a:extLst>
          </p:cNvPr>
          <p:cNvSpPr txBox="1"/>
          <p:nvPr/>
        </p:nvSpPr>
        <p:spPr>
          <a:xfrm>
            <a:off x="15853762" y="24630658"/>
            <a:ext cx="5063182" cy="1615827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BE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Q5 – OT vs CRDT</a:t>
            </a:r>
          </a:p>
          <a:p>
            <a:pPr>
              <a:lnSpc>
                <a:spcPct val="150000"/>
              </a:lnSpc>
            </a:pPr>
            <a:r>
              <a:rPr lang="en-BE" sz="1800" b="1" dirty="0">
                <a:latin typeface="Verdana" panose="020B0604030504040204" pitchFamily="34" charset="0"/>
                <a:ea typeface="Verdana" panose="020B0604030504040204" pitchFamily="34" charset="0"/>
              </a:rPr>
              <a:t>D = inspectable rules</a:t>
            </a:r>
          </a:p>
          <a:p>
            <a:pPr algn="just"/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D matches B for most scenarios, with the policy explicit in transform() rather than implicit in the data structure.</a:t>
            </a:r>
          </a:p>
        </p:txBody>
      </p:sp>
      <p:sp>
        <p:nvSpPr>
          <p:cNvPr id="137" name="Tekstvak 136">
            <a:extLst>
              <a:ext uri="{FF2B5EF4-FFF2-40B4-BE49-F238E27FC236}">
                <a16:creationId xmlns:a16="http://schemas.microsoft.com/office/drawing/2014/main" id="{50478DCC-937B-A2AE-1ACC-834B14BE4254}"/>
              </a:ext>
            </a:extLst>
          </p:cNvPr>
          <p:cNvSpPr txBox="1"/>
          <p:nvPr/>
        </p:nvSpPr>
        <p:spPr>
          <a:xfrm>
            <a:off x="176212" y="26386171"/>
            <a:ext cx="20732575" cy="646331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just"/>
            <a:r>
              <a:rPr lang="en-BE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Q6</a:t>
            </a:r>
            <a:r>
              <a:rPr lang="en-BE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No variant blocks concurrent editing, no file or object is ever locked. The c</a:t>
            </a:r>
            <a:r>
              <a:rPr lang="nl-NL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</a:t>
            </a:r>
            <a:r>
              <a:rPr lang="en-BE" sz="1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ntention</a:t>
            </a:r>
            <a:r>
              <a:rPr lang="en-BE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zone shrinks from a whole file (traditional) to whole object (A), single property (B, D) or nothing for delta moves (C). All approaches are a viable real-time alternative to </a:t>
            </a:r>
            <a:r>
              <a:rPr lang="en-BE" sz="1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Preforce</a:t>
            </a:r>
            <a:r>
              <a:rPr lang="en-BE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-style file locking.</a:t>
            </a:r>
          </a:p>
        </p:txBody>
      </p:sp>
      <p:sp>
        <p:nvSpPr>
          <p:cNvPr id="138" name="Tekstvak 137">
            <a:extLst>
              <a:ext uri="{FF2B5EF4-FFF2-40B4-BE49-F238E27FC236}">
                <a16:creationId xmlns:a16="http://schemas.microsoft.com/office/drawing/2014/main" id="{3227D821-B297-2142-8DCD-61F74885009A}"/>
              </a:ext>
            </a:extLst>
          </p:cNvPr>
          <p:cNvSpPr txBox="1"/>
          <p:nvPr/>
        </p:nvSpPr>
        <p:spPr>
          <a:xfrm>
            <a:off x="11493505" y="27260326"/>
            <a:ext cx="9423439" cy="1600438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nl-NL" sz="1400" dirty="0"/>
              <a:t>Ellis, C. A., </a:t>
            </a:r>
            <a:r>
              <a:rPr lang="en-BE" sz="1400" dirty="0"/>
              <a:t>&amp; </a:t>
            </a:r>
            <a:r>
              <a:rPr lang="nl-NL" sz="1400" dirty="0"/>
              <a:t>Gibbs, S. J. (1989). </a:t>
            </a:r>
            <a:r>
              <a:rPr lang="nl-NL" sz="1400" dirty="0" err="1"/>
              <a:t>Concurrency</a:t>
            </a:r>
            <a:r>
              <a:rPr lang="nl-NL" sz="1400" dirty="0"/>
              <a:t> Control in </a:t>
            </a:r>
            <a:r>
              <a:rPr lang="nl-NL" sz="1400" dirty="0" err="1"/>
              <a:t>Groupware</a:t>
            </a:r>
            <a:r>
              <a:rPr lang="nl-NL" sz="1400" dirty="0"/>
              <a:t> Systems. </a:t>
            </a:r>
            <a:r>
              <a:rPr lang="nl-NL" sz="1400" i="1" dirty="0"/>
              <a:t>ACM SIGMOD Record</a:t>
            </a:r>
            <a:r>
              <a:rPr lang="nl-NL" sz="1400" dirty="0"/>
              <a:t>, 18(2), 399–407.</a:t>
            </a:r>
          </a:p>
          <a:p>
            <a:r>
              <a:rPr lang="nl-NL" sz="1400" dirty="0"/>
              <a:t>Sun, C., </a:t>
            </a:r>
            <a:r>
              <a:rPr lang="en-BE" sz="1400" dirty="0"/>
              <a:t>&amp; </a:t>
            </a:r>
            <a:r>
              <a:rPr lang="nl-NL" sz="1400" dirty="0"/>
              <a:t>Ellis, C. A. (1998). </a:t>
            </a:r>
            <a:r>
              <a:rPr lang="nl-NL" sz="1400" dirty="0" err="1"/>
              <a:t>Operational</a:t>
            </a:r>
            <a:r>
              <a:rPr lang="nl-NL" sz="1400" dirty="0"/>
              <a:t> </a:t>
            </a:r>
            <a:r>
              <a:rPr lang="nl-NL" sz="1400" dirty="0" err="1"/>
              <a:t>transformation</a:t>
            </a:r>
            <a:r>
              <a:rPr lang="nl-NL" sz="1400" dirty="0"/>
              <a:t> in real-time </a:t>
            </a:r>
            <a:r>
              <a:rPr lang="nl-NL" sz="1400" dirty="0" err="1"/>
              <a:t>group</a:t>
            </a:r>
            <a:r>
              <a:rPr lang="nl-NL" sz="1400" dirty="0"/>
              <a:t> editors. </a:t>
            </a:r>
            <a:r>
              <a:rPr lang="nl-NL" sz="1400" i="1" dirty="0"/>
              <a:t>Proc. ACM CSCW 1998</a:t>
            </a:r>
            <a:r>
              <a:rPr lang="en-BE" sz="1400" dirty="0"/>
              <a:t>.</a:t>
            </a:r>
          </a:p>
          <a:p>
            <a:r>
              <a:rPr lang="nl-NL" sz="1400" dirty="0" err="1"/>
              <a:t>Shapiro</a:t>
            </a:r>
            <a:r>
              <a:rPr lang="nl-NL" sz="1400" dirty="0"/>
              <a:t>, M., </a:t>
            </a:r>
            <a:r>
              <a:rPr lang="nl-NL" sz="1400" dirty="0" err="1"/>
              <a:t>Preguiça</a:t>
            </a:r>
            <a:r>
              <a:rPr lang="nl-NL" sz="1400" dirty="0"/>
              <a:t>, N., </a:t>
            </a:r>
            <a:r>
              <a:rPr lang="nl-NL" sz="1400" dirty="0" err="1"/>
              <a:t>Baquero</a:t>
            </a:r>
            <a:r>
              <a:rPr lang="nl-NL" sz="1400" dirty="0"/>
              <a:t>, C., </a:t>
            </a:r>
            <a:r>
              <a:rPr lang="en-BE" sz="1400" dirty="0"/>
              <a:t>&amp; </a:t>
            </a:r>
            <a:r>
              <a:rPr lang="nl-NL" sz="1400" dirty="0" err="1"/>
              <a:t>Zawirski</a:t>
            </a:r>
            <a:r>
              <a:rPr lang="nl-NL" sz="1400" dirty="0"/>
              <a:t>, M. (2011). Conflict-free </a:t>
            </a:r>
            <a:r>
              <a:rPr lang="nl-NL" sz="1400" dirty="0" err="1"/>
              <a:t>Replicated</a:t>
            </a:r>
            <a:r>
              <a:rPr lang="nl-NL" sz="1400" dirty="0"/>
              <a:t> Data Types. </a:t>
            </a:r>
            <a:r>
              <a:rPr lang="nl-NL" sz="1400" i="1" dirty="0"/>
              <a:t>INRIA Research Report 7686</a:t>
            </a:r>
            <a:r>
              <a:rPr lang="nl-NL" sz="1400" dirty="0"/>
              <a:t>.</a:t>
            </a:r>
          </a:p>
          <a:p>
            <a:r>
              <a:rPr lang="nl-NL" sz="1400" dirty="0" err="1"/>
              <a:t>Preguiça</a:t>
            </a:r>
            <a:r>
              <a:rPr lang="nl-NL" sz="1400" dirty="0"/>
              <a:t>, N., </a:t>
            </a:r>
            <a:r>
              <a:rPr lang="nl-NL" sz="1400" dirty="0" err="1"/>
              <a:t>Baquero</a:t>
            </a:r>
            <a:r>
              <a:rPr lang="nl-NL" sz="1400" dirty="0"/>
              <a:t>, C., </a:t>
            </a:r>
            <a:r>
              <a:rPr lang="en-BE" sz="1400" dirty="0"/>
              <a:t>&amp; </a:t>
            </a:r>
            <a:r>
              <a:rPr lang="nl-NL" sz="1400" dirty="0" err="1"/>
              <a:t>Almeida</a:t>
            </a:r>
            <a:r>
              <a:rPr lang="nl-NL" sz="1400" dirty="0"/>
              <a:t>, P. S. (2018). Conflict-free </a:t>
            </a:r>
            <a:r>
              <a:rPr lang="nl-NL" sz="1400" dirty="0" err="1"/>
              <a:t>Replicated</a:t>
            </a:r>
            <a:r>
              <a:rPr lang="nl-NL" sz="1400" dirty="0"/>
              <a:t> Data Types: An </a:t>
            </a:r>
            <a:r>
              <a:rPr lang="nl-NL" sz="1400" dirty="0" err="1"/>
              <a:t>Overview</a:t>
            </a:r>
            <a:r>
              <a:rPr lang="nl-NL" sz="1400" dirty="0"/>
              <a:t>. </a:t>
            </a:r>
            <a:r>
              <a:rPr lang="nl-NL" sz="1400" i="1" dirty="0"/>
              <a:t>arXiv:1806.10254</a:t>
            </a:r>
            <a:r>
              <a:rPr lang="nl-NL" sz="1400" dirty="0"/>
              <a:t>.</a:t>
            </a:r>
          </a:p>
          <a:p>
            <a:r>
              <a:rPr lang="nl-NL" sz="1400" dirty="0" err="1"/>
              <a:t>Zhou</a:t>
            </a:r>
            <a:r>
              <a:rPr lang="nl-NL" sz="1400" dirty="0"/>
              <a:t>, S., Li, Y., </a:t>
            </a:r>
            <a:r>
              <a:rPr lang="nl-NL" sz="1400" dirty="0" err="1"/>
              <a:t>Shang</a:t>
            </a:r>
            <a:r>
              <a:rPr lang="nl-NL" sz="1400" dirty="0"/>
              <a:t>, T., </a:t>
            </a:r>
            <a:r>
              <a:rPr lang="en-BE" sz="1400" dirty="0"/>
              <a:t>&amp; </a:t>
            </a:r>
            <a:r>
              <a:rPr lang="nl-NL" sz="1400" dirty="0"/>
              <a:t>Kong, W. (2023). A </a:t>
            </a:r>
            <a:r>
              <a:rPr lang="nl-NL" sz="1400" dirty="0" err="1"/>
              <a:t>paradigm</a:t>
            </a:r>
            <a:r>
              <a:rPr lang="nl-NL" sz="1400" dirty="0"/>
              <a:t> </a:t>
            </a:r>
            <a:r>
              <a:rPr lang="nl-NL" sz="1400" dirty="0" err="1"/>
              <a:t>for</a:t>
            </a:r>
            <a:r>
              <a:rPr lang="nl-NL" sz="1400" dirty="0"/>
              <a:t> </a:t>
            </a:r>
            <a:r>
              <a:rPr lang="nl-NL" sz="1400" dirty="0" err="1"/>
              <a:t>collaborative</a:t>
            </a:r>
            <a:r>
              <a:rPr lang="nl-NL" sz="1400" dirty="0"/>
              <a:t> 3D editing via list </a:t>
            </a:r>
            <a:r>
              <a:rPr lang="nl-NL" sz="1400" dirty="0" err="1"/>
              <a:t>CRDTs</a:t>
            </a:r>
            <a:r>
              <a:rPr lang="nl-NL" sz="1400" dirty="0"/>
              <a:t>. </a:t>
            </a:r>
            <a:r>
              <a:rPr lang="nl-NL" sz="1400" i="1" dirty="0"/>
              <a:t>Proc. CSAE 2023</a:t>
            </a:r>
            <a:r>
              <a:rPr lang="nl-NL" sz="1400" dirty="0"/>
              <a:t>, ACM.</a:t>
            </a:r>
          </a:p>
          <a:p>
            <a:r>
              <a:rPr lang="nl-NL" sz="1400" dirty="0"/>
              <a:t>Sun, C., </a:t>
            </a:r>
            <a:r>
              <a:rPr lang="nl-NL" sz="1400" dirty="0" err="1"/>
              <a:t>Xia</a:t>
            </a:r>
            <a:r>
              <a:rPr lang="nl-NL" sz="1400" dirty="0"/>
              <a:t>, S., Sun, D., Chen, D., </a:t>
            </a:r>
            <a:r>
              <a:rPr lang="nl-NL" sz="1400" dirty="0" err="1"/>
              <a:t>Shen</a:t>
            </a:r>
            <a:r>
              <a:rPr lang="nl-NL" sz="1400" dirty="0"/>
              <a:t>, H., </a:t>
            </a:r>
            <a:r>
              <a:rPr lang="en-BE" sz="1400" dirty="0"/>
              <a:t>&amp; </a:t>
            </a:r>
            <a:r>
              <a:rPr lang="nl-NL" sz="1400" dirty="0"/>
              <a:t>Cai, W. (2012). </a:t>
            </a:r>
            <a:r>
              <a:rPr lang="nl-NL" sz="1400" dirty="0" err="1"/>
              <a:t>Transparent</a:t>
            </a:r>
            <a:r>
              <a:rPr lang="nl-NL" sz="1400" dirty="0"/>
              <a:t> </a:t>
            </a:r>
            <a:r>
              <a:rPr lang="nl-NL" sz="1400" dirty="0" err="1"/>
              <a:t>adaptation</a:t>
            </a:r>
            <a:r>
              <a:rPr lang="nl-NL" sz="1400" dirty="0"/>
              <a:t> of single-user </a:t>
            </a:r>
            <a:r>
              <a:rPr lang="nl-NL" sz="1400" dirty="0" err="1"/>
              <a:t>applications</a:t>
            </a:r>
            <a:r>
              <a:rPr lang="nl-NL" sz="1400" dirty="0"/>
              <a:t> </a:t>
            </a:r>
            <a:r>
              <a:rPr lang="nl-NL" sz="1400" dirty="0" err="1"/>
              <a:t>for</a:t>
            </a:r>
            <a:r>
              <a:rPr lang="nl-NL" sz="1400" dirty="0"/>
              <a:t> </a:t>
            </a:r>
            <a:r>
              <a:rPr lang="nl-NL" sz="1400" dirty="0" err="1"/>
              <a:t>multi</a:t>
            </a:r>
            <a:r>
              <a:rPr lang="nl-NL" sz="1400" dirty="0"/>
              <a:t>-user real-time </a:t>
            </a:r>
            <a:r>
              <a:rPr lang="nl-NL" sz="1400" dirty="0" err="1"/>
              <a:t>collaboration</a:t>
            </a:r>
            <a:r>
              <a:rPr lang="nl-NL" sz="1400" dirty="0"/>
              <a:t>. </a:t>
            </a:r>
            <a:r>
              <a:rPr lang="nl-NL" sz="1400" i="1" dirty="0"/>
              <a:t>ACM</a:t>
            </a:r>
            <a:r>
              <a:rPr lang="nl-NL" sz="1400" dirty="0"/>
              <a:t> </a:t>
            </a:r>
            <a:r>
              <a:rPr lang="nl-NL" sz="1400" i="1" dirty="0"/>
              <a:t>TOCHI</a:t>
            </a:r>
          </a:p>
        </p:txBody>
      </p:sp>
    </p:spTree>
    <p:extLst>
      <p:ext uri="{BB962C8B-B14F-4D97-AF65-F5344CB8AC3E}">
        <p14:creationId xmlns:p14="http://schemas.microsoft.com/office/powerpoint/2010/main" val="220050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/>
      <a:lstStyle>
        <a:defPPr>
          <a:defRPr sz="3000" b="1" dirty="0" err="1" smtClean="0">
            <a:solidFill>
              <a:schemeClr val="tx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1253</Words>
  <Application>Microsoft Office PowerPoint</Application>
  <PresentationFormat>Aangepast</PresentationFormat>
  <Paragraphs>102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Arial</vt:lpstr>
      <vt:lpstr>Calibri</vt:lpstr>
      <vt:lpstr>Verdana</vt:lpstr>
      <vt:lpstr>Office-thema</vt:lpstr>
      <vt:lpstr>Salaets Florian</vt:lpstr>
    </vt:vector>
  </TitlesOfParts>
  <Company>Universiteit Hasselt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Dave Bosmans</dc:creator>
  <cp:lastModifiedBy>Florian Salaets</cp:lastModifiedBy>
  <cp:revision>68</cp:revision>
  <cp:lastPrinted>2023-03-07T08:02:27Z</cp:lastPrinted>
  <dcterms:created xsi:type="dcterms:W3CDTF">2014-03-07T12:50:19Z</dcterms:created>
  <dcterms:modified xsi:type="dcterms:W3CDTF">2026-05-12T22:17:52Z</dcterms:modified>
</cp:coreProperties>
</file>